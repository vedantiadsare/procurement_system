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02ADA-E42C-4C76-B8DB-A2DEE7DE7C07}" v="3" dt="2026-09-19T11:27:21.3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sare, Vedanti (Digital Solutions IN I-DI-D)" userId="4801334a-63d4-451b-b3ca-daf48946f781" providerId="ADAL" clId="{D7F95760-8761-438E-A1AD-B032E44449D2}"/>
    <pc:docChg chg="undo custSel modSld">
      <pc:chgData name="Adsare, Vedanti (Digital Solutions IN I-DI-D)" userId="4801334a-63d4-451b-b3ca-daf48946f781" providerId="ADAL" clId="{D7F95760-8761-438E-A1AD-B032E44449D2}" dt="2026-09-19T11:27:21.363" v="112"/>
      <pc:docMkLst>
        <pc:docMk/>
      </pc:docMkLst>
      <pc:sldChg chg="addSp delSp modSp mod">
        <pc:chgData name="Adsare, Vedanti (Digital Solutions IN I-DI-D)" userId="4801334a-63d4-451b-b3ca-daf48946f781" providerId="ADAL" clId="{D7F95760-8761-438E-A1AD-B032E44449D2}" dt="2026-09-19T11:27:21.363" v="112"/>
        <pc:sldMkLst>
          <pc:docMk/>
          <pc:sldMk cId="0" sldId="257"/>
        </pc:sldMkLst>
        <pc:spChg chg="mod">
          <ac:chgData name="Adsare, Vedanti (Digital Solutions IN I-DI-D)" userId="4801334a-63d4-451b-b3ca-daf48946f781" providerId="ADAL" clId="{D7F95760-8761-438E-A1AD-B032E44449D2}" dt="2026-09-19T11:12:25.726" v="17" actId="20577"/>
          <ac:spMkLst>
            <pc:docMk/>
            <pc:sldMk cId="0" sldId="257"/>
            <ac:spMk id="5" creationId="{00000000-0000-0000-0000-000000000000}"/>
          </ac:spMkLst>
        </pc:spChg>
        <pc:spChg chg="add del mod">
          <ac:chgData name="Adsare, Vedanti (Digital Solutions IN I-DI-D)" userId="4801334a-63d4-451b-b3ca-daf48946f781" providerId="ADAL" clId="{D7F95760-8761-438E-A1AD-B032E44449D2}" dt="2026-09-19T11:27:21.363" v="112"/>
          <ac:spMkLst>
            <pc:docMk/>
            <pc:sldMk cId="0" sldId="257"/>
            <ac:spMk id="6" creationId="{00000000-0000-0000-0000-000000000000}"/>
          </ac:spMkLst>
        </pc:spChg>
      </pc:sldChg>
      <pc:sldChg chg="modSp mod">
        <pc:chgData name="Adsare, Vedanti (Digital Solutions IN I-DI-D)" userId="4801334a-63d4-451b-b3ca-daf48946f781" providerId="ADAL" clId="{D7F95760-8761-438E-A1AD-B032E44449D2}" dt="2026-09-19T11:22:31.170" v="54" actId="20577"/>
        <pc:sldMkLst>
          <pc:docMk/>
          <pc:sldMk cId="0" sldId="258"/>
        </pc:sldMkLst>
        <pc:graphicFrameChg chg="modGraphic">
          <ac:chgData name="Adsare, Vedanti (Digital Solutions IN I-DI-D)" userId="4801334a-63d4-451b-b3ca-daf48946f781" providerId="ADAL" clId="{D7F95760-8761-438E-A1AD-B032E44449D2}" dt="2026-09-19T11:22:31.170" v="54" actId="20577"/>
          <ac:graphicFrameMkLst>
            <pc:docMk/>
            <pc:sldMk cId="0" sldId="258"/>
            <ac:graphicFrameMk id="8" creationId="{00000000-0000-0000-0000-000000000000}"/>
          </ac:graphicFrameMkLst>
        </pc:graphicFrameChg>
      </pc:sldChg>
      <pc:sldChg chg="modSp mod">
        <pc:chgData name="Adsare, Vedanti (Digital Solutions IN I-DI-D)" userId="4801334a-63d4-451b-b3ca-daf48946f781" providerId="ADAL" clId="{D7F95760-8761-438E-A1AD-B032E44449D2}" dt="2026-09-19T11:23:53.742" v="56" actId="14100"/>
        <pc:sldMkLst>
          <pc:docMk/>
          <pc:sldMk cId="0" sldId="260"/>
        </pc:sldMkLst>
        <pc:picChg chg="mod">
          <ac:chgData name="Adsare, Vedanti (Digital Solutions IN I-DI-D)" userId="4801334a-63d4-451b-b3ca-daf48946f781" providerId="ADAL" clId="{D7F95760-8761-438E-A1AD-B032E44449D2}" dt="2026-09-19T11:23:53.742" v="56" actId="14100"/>
          <ac:picMkLst>
            <pc:docMk/>
            <pc:sldMk cId="0" sldId="260"/>
            <ac:picMk id="6"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FAAF7-F0A2-E8B0-6723-153E9E9D77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98F5FE-E694-6868-61B6-45640DD171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E1E323-933F-1987-B984-E0522A268245}"/>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5" name="Footer Placeholder 4">
            <a:extLst>
              <a:ext uri="{FF2B5EF4-FFF2-40B4-BE49-F238E27FC236}">
                <a16:creationId xmlns:a16="http://schemas.microsoft.com/office/drawing/2014/main" id="{1711E11D-FDC6-02BF-7924-9EFEC1FFE3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F42769-EA2B-2459-7FE0-01BB2A77DE7A}"/>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3896361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AABB6-6618-A15B-1BA2-1903F47523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01E60-BA57-1C17-115F-3631525343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C7C7F-8386-558D-C799-B448D4B511B3}"/>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5" name="Footer Placeholder 4">
            <a:extLst>
              <a:ext uri="{FF2B5EF4-FFF2-40B4-BE49-F238E27FC236}">
                <a16:creationId xmlns:a16="http://schemas.microsoft.com/office/drawing/2014/main" id="{95F3A58D-B670-C4DA-3898-B288A6282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F6D84-5A58-BCA3-D658-CA27D50B6C65}"/>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3716384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30C11-7765-6437-4535-BFDB806FA7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D6BDCA-695B-BBF4-4771-A289014E83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F20EA1-81BF-A531-1B46-05545225ED22}"/>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5" name="Footer Placeholder 4">
            <a:extLst>
              <a:ext uri="{FF2B5EF4-FFF2-40B4-BE49-F238E27FC236}">
                <a16:creationId xmlns:a16="http://schemas.microsoft.com/office/drawing/2014/main" id="{D176A978-0169-4AD5-D163-20064FEB0D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C409D2-0FAB-4698-8881-3B603F02D707}"/>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3260723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BD348-E116-F700-46AF-D641FF7A55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E6FD1D-DBBC-EA7F-1766-90C5C6F202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D0CB21-649A-20E2-F9E1-25ED3A3B5F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1E0A6E-18D4-50A3-8B99-6EB89AC6C590}"/>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6" name="Footer Placeholder 5">
            <a:extLst>
              <a:ext uri="{FF2B5EF4-FFF2-40B4-BE49-F238E27FC236}">
                <a16:creationId xmlns:a16="http://schemas.microsoft.com/office/drawing/2014/main" id="{D5CDBBE7-9991-D2B7-5528-EF23003CB6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48E6BB-D0A9-079A-485C-ACAEF6DF7941}"/>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2692622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D899B-EACD-DB7B-7DD6-C6E6E720E4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67591A-4AC3-11DA-B5B4-482D9CC4C7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BD8D02-D666-0439-B9A5-4912B91FBC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D298C95-184F-A9EC-021D-9AE344B167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86B073-75CF-AAB5-DADB-2B1881F28B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47C472-BCF9-CBC7-836C-35A4D0A33CFE}"/>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8" name="Footer Placeholder 7">
            <a:extLst>
              <a:ext uri="{FF2B5EF4-FFF2-40B4-BE49-F238E27FC236}">
                <a16:creationId xmlns:a16="http://schemas.microsoft.com/office/drawing/2014/main" id="{D17135B5-4953-2B20-DC88-492AE2C916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334E75-D902-C48B-D288-554650A3476B}"/>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1007667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FE4A9-D760-64DE-9D95-D4ADDD0D50B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B7A420-1D8C-2023-A301-ED946316A2BB}"/>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4" name="Footer Placeholder 3">
            <a:extLst>
              <a:ext uri="{FF2B5EF4-FFF2-40B4-BE49-F238E27FC236}">
                <a16:creationId xmlns:a16="http://schemas.microsoft.com/office/drawing/2014/main" id="{C0F9694D-ECB5-3A2D-5579-22AB234F2E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2410D6-51B0-F5C1-1DB0-AA9D0B5EF629}"/>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354854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7B1805-6933-AADD-6A84-5CB6EC86A85E}"/>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3" name="Footer Placeholder 2">
            <a:extLst>
              <a:ext uri="{FF2B5EF4-FFF2-40B4-BE49-F238E27FC236}">
                <a16:creationId xmlns:a16="http://schemas.microsoft.com/office/drawing/2014/main" id="{55390592-079B-0DAB-9684-BDE2725BCE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870D486-7F8D-28DA-6F7E-FF2193D2E05D}"/>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1708693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D9F0F-6A8A-0751-3410-0FC383EECC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D0F7442-56EE-4C5C-FDA8-F79088E06A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3BF5D8C-7C1B-61C7-1620-8DF5C7BF26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0AAC07-D2BC-EA90-D173-C4EDA03E6842}"/>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6" name="Footer Placeholder 5">
            <a:extLst>
              <a:ext uri="{FF2B5EF4-FFF2-40B4-BE49-F238E27FC236}">
                <a16:creationId xmlns:a16="http://schemas.microsoft.com/office/drawing/2014/main" id="{2A14F65C-7D3B-490B-8760-90B2F79D3F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F4FBB2-F1B4-BEEC-0BC4-AE5FBD05B091}"/>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2276248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48F5C-C677-05A3-5195-1E7997B256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B381186-B0A1-2A52-E1E0-E23BE8244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6E1349-7B6C-9E84-E787-D877415443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65EB29-01A4-05F3-BE67-8B48C5A4C68E}"/>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6" name="Footer Placeholder 5">
            <a:extLst>
              <a:ext uri="{FF2B5EF4-FFF2-40B4-BE49-F238E27FC236}">
                <a16:creationId xmlns:a16="http://schemas.microsoft.com/office/drawing/2014/main" id="{2F63C8B9-F0F7-B5E5-7877-2B966BFCC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063A8-6A94-FD92-250D-59F029382959}"/>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18627283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EDBC4-D14C-4B61-8AB2-E1E09F75AC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9DF23E7-E9E4-EE70-E45F-23725EF802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3A987C-113E-1199-5700-1EB7800D7AC8}"/>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5" name="Footer Placeholder 4">
            <a:extLst>
              <a:ext uri="{FF2B5EF4-FFF2-40B4-BE49-F238E27FC236}">
                <a16:creationId xmlns:a16="http://schemas.microsoft.com/office/drawing/2014/main" id="{749CF976-4A65-67CB-E6FE-D33A127E1B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9423BF-7ECC-D2A8-4B9D-6800D8B127FC}"/>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1677741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864374-5465-0452-C404-F5B9AE6C3B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7EB251F-871B-2406-228F-803FC9B136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AE90AF-B88E-3D2E-A1C0-1917CC1AE531}"/>
              </a:ext>
            </a:extLst>
          </p:cNvPr>
          <p:cNvSpPr>
            <a:spLocks noGrp="1"/>
          </p:cNvSpPr>
          <p:nvPr>
            <p:ph type="dt" sz="half" idx="10"/>
          </p:nvPr>
        </p:nvSpPr>
        <p:spPr/>
        <p:txBody>
          <a:bodyPr/>
          <a:lstStyle/>
          <a:p>
            <a:fld id="{46CE7121-EC18-45C9-B9EA-53A9E4EB80F3}" type="datetimeFigureOut">
              <a:rPr lang="en-US" smtClean="0"/>
              <a:t>9/19/2026</a:t>
            </a:fld>
            <a:endParaRPr lang="en-US"/>
          </a:p>
        </p:txBody>
      </p:sp>
      <p:sp>
        <p:nvSpPr>
          <p:cNvPr id="5" name="Footer Placeholder 4">
            <a:extLst>
              <a:ext uri="{FF2B5EF4-FFF2-40B4-BE49-F238E27FC236}">
                <a16:creationId xmlns:a16="http://schemas.microsoft.com/office/drawing/2014/main" id="{16E93FB5-6E0A-06F2-FD05-49A58E616C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0CAA35-9F5B-2177-0015-834BE13490F1}"/>
              </a:ext>
            </a:extLst>
          </p:cNvPr>
          <p:cNvSpPr>
            <a:spLocks noGrp="1"/>
          </p:cNvSpPr>
          <p:nvPr>
            <p:ph type="sldNum" sz="quarter" idx="12"/>
          </p:nvPr>
        </p:nvSpPr>
        <p:spPr/>
        <p:txBody>
          <a:bodyPr/>
          <a:lstStyle/>
          <a:p>
            <a:fld id="{EE4F3152-C571-436C-8D5E-95FF83DBDE19}" type="slidenum">
              <a:rPr lang="en-US" smtClean="0"/>
              <a:t>‹#›</a:t>
            </a:fld>
            <a:endParaRPr lang="en-US"/>
          </a:p>
        </p:txBody>
      </p:sp>
    </p:spTree>
    <p:extLst>
      <p:ext uri="{BB962C8B-B14F-4D97-AF65-F5344CB8AC3E}">
        <p14:creationId xmlns:p14="http://schemas.microsoft.com/office/powerpoint/2010/main" val="960637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4A4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051CF4-6105-79F2-F72A-319259EB2F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A833A5-1044-24A4-61C4-1C1B37B321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F8708-7813-1B99-6906-6940A77FE3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CE7121-EC18-45C9-B9EA-53A9E4EB80F3}" type="datetimeFigureOut">
              <a:rPr lang="en-US" smtClean="0"/>
              <a:t>9/19/2026</a:t>
            </a:fld>
            <a:endParaRPr lang="en-US"/>
          </a:p>
        </p:txBody>
      </p:sp>
      <p:sp>
        <p:nvSpPr>
          <p:cNvPr id="5" name="Footer Placeholder 4">
            <a:extLst>
              <a:ext uri="{FF2B5EF4-FFF2-40B4-BE49-F238E27FC236}">
                <a16:creationId xmlns:a16="http://schemas.microsoft.com/office/drawing/2014/main" id="{FBA401E0-2B6E-240A-93E8-8F9AD68FC0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496E97C-7DB8-E3AA-4E91-FEF0083C66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4F3152-C571-436C-8D5E-95FF83DBDE19}" type="slidenum">
              <a:rPr lang="en-US" smtClean="0"/>
              <a:t>‹#›</a:t>
            </a:fld>
            <a:endParaRPr lang="en-US"/>
          </a:p>
        </p:txBody>
      </p:sp>
      <p:sp>
        <p:nvSpPr>
          <p:cNvPr id="8" name="TextBox 7">
            <a:extLst>
              <a:ext uri="{FF2B5EF4-FFF2-40B4-BE49-F238E27FC236}">
                <a16:creationId xmlns:a16="http://schemas.microsoft.com/office/drawing/2014/main" id="{0387D100-6220-C1FF-7C66-725F03DA9263}"/>
              </a:ext>
            </a:extLst>
          </p:cNvPr>
          <p:cNvSpPr txBox="1"/>
          <p:nvPr userDrawn="1">
            <p:extLst>
              <p:ext uri="{1162E1C5-73C7-4A58-AE30-91384D911F3F}">
                <p184:classification xmlns:p184="http://schemas.microsoft.com/office/powerpoint/2018/4/main" val="ftr"/>
              </p:ext>
            </p:extLst>
          </p:nvPr>
        </p:nvSpPr>
        <p:spPr>
          <a:xfrm>
            <a:off x="63500" y="6672580"/>
            <a:ext cx="531813" cy="121920"/>
          </a:xfrm>
          <a:prstGeom prst="rect">
            <a:avLst/>
          </a:prstGeom>
        </p:spPr>
        <p:txBody>
          <a:bodyPr horzOverflow="overflow" lIns="0" tIns="0" rIns="0" bIns="0">
            <a:spAutoFit/>
          </a:bodyPr>
          <a:lstStyle/>
          <a:p>
            <a:pPr algn="l"/>
            <a:r>
              <a:rPr lang="en-US" sz="800">
                <a:solidFill>
                  <a:srgbClr val="000000">
                    <a:alpha val="50000"/>
                  </a:srgbClr>
                </a:solidFill>
                <a:latin typeface="Arial" panose="020B0604020202020204" pitchFamily="34" charset="0"/>
                <a:cs typeface="Arial" panose="020B0604020202020204" pitchFamily="34" charset="0"/>
              </a:rPr>
              <a:t>INTERNAL</a:t>
            </a:r>
          </a:p>
        </p:txBody>
      </p:sp>
      <p:pic>
        <p:nvPicPr>
          <p:cNvPr id="20" name="Mobilothon Logo"/>
          <p:cNvPicPr>
            <a:picLocks noChangeAspect="1"/>
          </p:cNvPicPr>
          <p:nvPr userDrawn="1"/>
        </p:nvPicPr>
        <p:blipFill>
          <a:blip r:embed="rId13"/>
          <a:stretch>
            <a:fillRect/>
          </a:stretch>
        </p:blipFill>
        <p:spPr>
          <a:xfrm>
            <a:off x="9000000" y="270000"/>
            <a:ext cx="2850000" cy="332160"/>
          </a:xfrm>
          <a:prstGeom prst="rect">
            <a:avLst/>
          </a:prstGeom>
        </p:spPr>
      </p:pic>
      <p:pic>
        <p:nvPicPr>
          <p:cNvPr id="21" name="VW Group Logo"/>
          <p:cNvPicPr>
            <a:picLocks noChangeAspect="1"/>
          </p:cNvPicPr>
          <p:nvPr userDrawn="1"/>
        </p:nvPicPr>
        <p:blipFill>
          <a:blip r:embed="rId14">
            <a:lum bright="70000" contrast="-70000"/>
          </a:blip>
          <a:stretch>
            <a:fillRect/>
          </a:stretch>
        </p:blipFill>
        <p:spPr>
          <a:xfrm>
            <a:off x="540000" y="140000"/>
            <a:ext cx="1359000" cy="400000"/>
          </a:xfrm>
          <a:prstGeom prst="rect">
            <a:avLst/>
          </a:prstGeom>
        </p:spPr>
      </p:pic>
    </p:spTree>
    <p:extLst>
      <p:ext uri="{BB962C8B-B14F-4D97-AF65-F5344CB8AC3E}">
        <p14:creationId xmlns:p14="http://schemas.microsoft.com/office/powerpoint/2010/main" val="734390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apps.powerapps.com/play/e/default-2882be50-2012-4d88-ac86-544124e120c8/a/ed256db9-38fa-4b6e-8ca1-c21520cc291e?tenantId=2882be50-2012-4d88-ac86-544124e120c8&amp;hint=5e56dea0-790d-4622-aeb5-e83b4c398ce4&amp;sourcetime=1780894419633&amp;source=portal"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Diamond Large">
            <a:extLst>
              <a:ext uri="{FF2B5EF4-FFF2-40B4-BE49-F238E27FC236}">
                <a16:creationId xmlns:a16="http://schemas.microsoft.com/office/drawing/2014/main" id="{4BD5828D-FA0B-470D-7827-EBC9BC76B3A6}"/>
              </a:ext>
            </a:extLst>
          </p:cNvPr>
          <p:cNvSpPr/>
          <p:nvPr/>
        </p:nvSpPr>
        <p:spPr>
          <a:xfrm rot="2700000">
            <a:off x="6444000" y="629000"/>
            <a:ext cx="5600000" cy="5600000"/>
          </a:xfrm>
          <a:prstGeom prst="rect">
            <a:avLst/>
          </a:prstGeom>
          <a:noFill/>
          <a:ln w="12700">
            <a:solidFill>
              <a:srgbClr val="00B8B8">
                <a:alpha val="30000"/>
              </a:srgbClr>
            </a:solidFill>
          </a:ln>
        </p:spPr>
        <p:txBody>
          <a:bodyPr/>
          <a:lstStyle/>
          <a:p>
            <a:endParaRPr lang="en-US"/>
          </a:p>
        </p:txBody>
      </p:sp>
      <p:sp>
        <p:nvSpPr>
          <p:cNvPr id="24" name="Diamond Medium">
            <a:extLst>
              <a:ext uri="{FF2B5EF4-FFF2-40B4-BE49-F238E27FC236}">
                <a16:creationId xmlns:a16="http://schemas.microsoft.com/office/drawing/2014/main" id="{FFE6AA1F-DF0D-16A9-2580-DEC35D397A57}"/>
              </a:ext>
            </a:extLst>
          </p:cNvPr>
          <p:cNvSpPr/>
          <p:nvPr/>
        </p:nvSpPr>
        <p:spPr>
          <a:xfrm rot="2700000">
            <a:off x="7344000" y="1529000"/>
            <a:ext cx="3800000" cy="3800000"/>
          </a:xfrm>
          <a:prstGeom prst="rect">
            <a:avLst/>
          </a:prstGeom>
          <a:noFill/>
          <a:ln w="19050">
            <a:solidFill>
              <a:srgbClr val="00E6E6">
                <a:alpha val="45000"/>
              </a:srgbClr>
            </a:solidFill>
          </a:ln>
        </p:spPr>
        <p:txBody>
          <a:bodyPr/>
          <a:lstStyle/>
          <a:p>
            <a:endParaRPr lang="en-US"/>
          </a:p>
        </p:txBody>
      </p:sp>
      <p:sp>
        <p:nvSpPr>
          <p:cNvPr id="25" name="Diamond Small">
            <a:extLst>
              <a:ext uri="{FF2B5EF4-FFF2-40B4-BE49-F238E27FC236}">
                <a16:creationId xmlns:a16="http://schemas.microsoft.com/office/drawing/2014/main" id="{62947EF9-4D81-6EBC-C6C3-F3AA21306C7D}"/>
              </a:ext>
            </a:extLst>
          </p:cNvPr>
          <p:cNvSpPr/>
          <p:nvPr/>
        </p:nvSpPr>
        <p:spPr>
          <a:xfrm rot="2700000">
            <a:off x="8144000" y="2329000"/>
            <a:ext cx="2200000" cy="2200000"/>
          </a:xfrm>
          <a:prstGeom prst="rect">
            <a:avLst/>
          </a:prstGeom>
          <a:noFill/>
          <a:ln w="25400">
            <a:solidFill>
              <a:srgbClr val="00FFE0">
                <a:alpha val="60000"/>
              </a:srgbClr>
            </a:solidFill>
          </a:ln>
        </p:spPr>
        <p:txBody>
          <a:bodyPr/>
          <a:lstStyle/>
          <a:p>
            <a:endParaRPr lang="en-US"/>
          </a:p>
        </p:txBody>
      </p:sp>
      <p:sp>
        <p:nvSpPr>
          <p:cNvPr id="26" name="Diamond Core">
            <a:extLst>
              <a:ext uri="{FF2B5EF4-FFF2-40B4-BE49-F238E27FC236}">
                <a16:creationId xmlns:a16="http://schemas.microsoft.com/office/drawing/2014/main" id="{FEB18751-25CB-2826-A41D-F09C92CA9B69}"/>
              </a:ext>
            </a:extLst>
          </p:cNvPr>
          <p:cNvSpPr/>
          <p:nvPr/>
        </p:nvSpPr>
        <p:spPr>
          <a:xfrm rot="2700000">
            <a:off x="8844000" y="3029000"/>
            <a:ext cx="800000" cy="800000"/>
          </a:xfrm>
          <a:prstGeom prst="rect">
            <a:avLst/>
          </a:prstGeom>
          <a:solidFill>
            <a:srgbClr val="00E6E6">
              <a:alpha val="15000"/>
            </a:srgbClr>
          </a:solidFill>
          <a:ln w="19050">
            <a:solidFill>
              <a:srgbClr val="00FFE0">
                <a:alpha val="80000"/>
              </a:srgbClr>
            </a:solidFill>
          </a:ln>
          <a:effectLst>
            <a:outerShdw blurRad="300000" algn="ctr" rotWithShape="0">
              <a:srgbClr val="00E6E6">
                <a:alpha val="40000"/>
              </a:srgbClr>
            </a:outerShdw>
          </a:effectLst>
        </p:spPr>
        <p:txBody>
          <a:bodyPr/>
          <a:lstStyle/>
          <a:p>
            <a:endParaRPr lang="en-US"/>
          </a:p>
        </p:txBody>
      </p:sp>
      <p:cxnSp>
        <p:nvCxnSpPr>
          <p:cNvPr id="27" name="Line H1">
            <a:extLst>
              <a:ext uri="{FF2B5EF4-FFF2-40B4-BE49-F238E27FC236}">
                <a16:creationId xmlns:a16="http://schemas.microsoft.com/office/drawing/2014/main" id="{C21E4FDC-4090-BA3A-2576-D66D20A8C18F}"/>
              </a:ext>
            </a:extLst>
          </p:cNvPr>
          <p:cNvCxnSpPr/>
          <p:nvPr/>
        </p:nvCxnSpPr>
        <p:spPr>
          <a:xfrm>
            <a:off x="5800000" y="3429000"/>
            <a:ext cx="3444000" cy="0"/>
          </a:xfrm>
          <a:prstGeom prst="line">
            <a:avLst/>
          </a:prstGeom>
          <a:ln w="9525">
            <a:solidFill>
              <a:srgbClr val="00E6E6">
                <a:alpha val="50000"/>
              </a:srgbClr>
            </a:solidFill>
          </a:ln>
        </p:spPr>
      </p:cxnSp>
      <p:cxnSp>
        <p:nvCxnSpPr>
          <p:cNvPr id="28" name="Line D1">
            <a:extLst>
              <a:ext uri="{FF2B5EF4-FFF2-40B4-BE49-F238E27FC236}">
                <a16:creationId xmlns:a16="http://schemas.microsoft.com/office/drawing/2014/main" id="{E448B88F-3CB6-33B9-EE5E-B3388A4B2D5E}"/>
              </a:ext>
            </a:extLst>
          </p:cNvPr>
          <p:cNvCxnSpPr/>
          <p:nvPr/>
        </p:nvCxnSpPr>
        <p:spPr>
          <a:xfrm>
            <a:off x="7200000" y="400000"/>
            <a:ext cx="4000000" cy="4000000"/>
          </a:xfrm>
          <a:prstGeom prst="line">
            <a:avLst/>
          </a:prstGeom>
          <a:ln w="6350">
            <a:solidFill>
              <a:srgbClr val="00B8B8">
                <a:alpha val="25000"/>
              </a:srgbClr>
            </a:solidFill>
          </a:ln>
        </p:spPr>
      </p:cxnSp>
      <p:cxnSp>
        <p:nvCxnSpPr>
          <p:cNvPr id="29" name="Line D2">
            <a:extLst>
              <a:ext uri="{FF2B5EF4-FFF2-40B4-BE49-F238E27FC236}">
                <a16:creationId xmlns:a16="http://schemas.microsoft.com/office/drawing/2014/main" id="{A33673AE-332D-FC11-A06B-11CEB6C95B17}"/>
              </a:ext>
            </a:extLst>
          </p:cNvPr>
          <p:cNvCxnSpPr/>
          <p:nvPr/>
        </p:nvCxnSpPr>
        <p:spPr>
          <a:xfrm flipV="1">
            <a:off x="7200000" y="2458000"/>
            <a:ext cx="4000000" cy="4000000"/>
          </a:xfrm>
          <a:prstGeom prst="line">
            <a:avLst/>
          </a:prstGeom>
          <a:ln w="6350">
            <a:solidFill>
              <a:srgbClr val="00B8B8">
                <a:alpha val="25000"/>
              </a:srgbClr>
            </a:solidFill>
          </a:ln>
        </p:spPr>
      </p:cxnSp>
      <p:sp>
        <p:nvSpPr>
          <p:cNvPr id="30" name="Node 1">
            <a:extLst>
              <a:ext uri="{FF2B5EF4-FFF2-40B4-BE49-F238E27FC236}">
                <a16:creationId xmlns:a16="http://schemas.microsoft.com/office/drawing/2014/main" id="{67AF986A-1FD8-507B-6630-D7131AD0F66F}"/>
              </a:ext>
            </a:extLst>
          </p:cNvPr>
          <p:cNvSpPr/>
          <p:nvPr/>
        </p:nvSpPr>
        <p:spPr>
          <a:xfrm>
            <a:off x="5720000" y="3349000"/>
            <a:ext cx="160000" cy="160000"/>
          </a:xfrm>
          <a:prstGeom prst="ellipse">
            <a:avLst/>
          </a:prstGeom>
          <a:solidFill>
            <a:srgbClr val="00FFE0"/>
          </a:solidFill>
          <a:ln w="0">
            <a:noFill/>
          </a:ln>
          <a:effectLst>
            <a:outerShdw blurRad="200000" algn="ctr" rotWithShape="0">
              <a:srgbClr val="00FFE0">
                <a:alpha val="60000"/>
              </a:srgbClr>
            </a:outerShdw>
          </a:effectLst>
        </p:spPr>
        <p:txBody>
          <a:bodyPr/>
          <a:lstStyle/>
          <a:p>
            <a:endParaRPr lang="en-US"/>
          </a:p>
        </p:txBody>
      </p:sp>
      <p:sp>
        <p:nvSpPr>
          <p:cNvPr id="31" name="Node 2">
            <a:extLst>
              <a:ext uri="{FF2B5EF4-FFF2-40B4-BE49-F238E27FC236}">
                <a16:creationId xmlns:a16="http://schemas.microsoft.com/office/drawing/2014/main" id="{8DF57795-0056-5E31-9EF3-F9483FD75A1E}"/>
              </a:ext>
            </a:extLst>
          </p:cNvPr>
          <p:cNvSpPr/>
          <p:nvPr/>
        </p:nvSpPr>
        <p:spPr>
          <a:xfrm>
            <a:off x="9174000" y="600000"/>
            <a:ext cx="140000" cy="140000"/>
          </a:xfrm>
          <a:prstGeom prst="ellipse">
            <a:avLst/>
          </a:prstGeom>
          <a:solidFill>
            <a:srgbClr val="00E6E6">
              <a:alpha val="70000"/>
            </a:srgbClr>
          </a:solidFill>
          <a:ln w="0">
            <a:noFill/>
          </a:ln>
          <a:effectLst>
            <a:outerShdw blurRad="150000" algn="ctr" rotWithShape="0">
              <a:srgbClr val="00E6E6">
                <a:alpha val="50000"/>
              </a:srgbClr>
            </a:outerShdw>
          </a:effectLst>
        </p:spPr>
        <p:txBody>
          <a:bodyPr/>
          <a:lstStyle/>
          <a:p>
            <a:endParaRPr lang="en-US"/>
          </a:p>
        </p:txBody>
      </p:sp>
      <p:sp>
        <p:nvSpPr>
          <p:cNvPr id="32" name="Node 3">
            <a:extLst>
              <a:ext uri="{FF2B5EF4-FFF2-40B4-BE49-F238E27FC236}">
                <a16:creationId xmlns:a16="http://schemas.microsoft.com/office/drawing/2014/main" id="{BC37B3BF-1BF6-8700-A980-C7CE95CE3D5F}"/>
              </a:ext>
            </a:extLst>
          </p:cNvPr>
          <p:cNvSpPr/>
          <p:nvPr/>
        </p:nvSpPr>
        <p:spPr>
          <a:xfrm>
            <a:off x="11500000" y="3370000"/>
            <a:ext cx="120000" cy="120000"/>
          </a:xfrm>
          <a:prstGeom prst="ellipse">
            <a:avLst/>
          </a:prstGeom>
          <a:solidFill>
            <a:srgbClr val="00FFE0">
              <a:alpha val="60000"/>
            </a:srgbClr>
          </a:solidFill>
          <a:ln w="0">
            <a:noFill/>
          </a:ln>
          <a:effectLst>
            <a:outerShdw blurRad="150000" algn="ctr" rotWithShape="0">
              <a:srgbClr val="00FFE0">
                <a:alpha val="50000"/>
              </a:srgbClr>
            </a:outerShdw>
          </a:effectLst>
        </p:spPr>
        <p:txBody>
          <a:bodyPr/>
          <a:lstStyle/>
          <a:p>
            <a:endParaRPr lang="en-US"/>
          </a:p>
        </p:txBody>
      </p:sp>
      <p:sp>
        <p:nvSpPr>
          <p:cNvPr id="33" name="Node 4">
            <a:extLst>
              <a:ext uri="{FF2B5EF4-FFF2-40B4-BE49-F238E27FC236}">
                <a16:creationId xmlns:a16="http://schemas.microsoft.com/office/drawing/2014/main" id="{2C17F041-592E-628A-A340-C74D9E45DD72}"/>
              </a:ext>
            </a:extLst>
          </p:cNvPr>
          <p:cNvSpPr/>
          <p:nvPr/>
        </p:nvSpPr>
        <p:spPr>
          <a:xfrm>
            <a:off x="9174000" y="6150000"/>
            <a:ext cx="140000" cy="140000"/>
          </a:xfrm>
          <a:prstGeom prst="ellipse">
            <a:avLst/>
          </a:prstGeom>
          <a:solidFill>
            <a:srgbClr val="00B8B8">
              <a:alpha val="50000"/>
            </a:srgbClr>
          </a:solidFill>
          <a:ln w="0">
            <a:noFill/>
          </a:ln>
          <a:effectLst>
            <a:outerShdw blurRad="150000" algn="ctr" rotWithShape="0">
              <a:srgbClr val="00B8B8">
                <a:alpha val="40000"/>
              </a:srgbClr>
            </a:outerShdw>
          </a:effectLst>
        </p:spPr>
        <p:txBody>
          <a:bodyPr/>
          <a:lstStyle/>
          <a:p>
            <a:endParaRPr lang="en-US"/>
          </a:p>
        </p:txBody>
      </p:sp>
      <p:sp>
        <p:nvSpPr>
          <p:cNvPr id="34" name="Hexagon Accent">
            <a:extLst>
              <a:ext uri="{FF2B5EF4-FFF2-40B4-BE49-F238E27FC236}">
                <a16:creationId xmlns:a16="http://schemas.microsoft.com/office/drawing/2014/main" id="{50EB2970-4783-AE48-3697-5A63B5DE24C4}"/>
              </a:ext>
            </a:extLst>
          </p:cNvPr>
          <p:cNvSpPr/>
          <p:nvPr/>
        </p:nvSpPr>
        <p:spPr>
          <a:xfrm rot="5400000">
            <a:off x="10200000" y="400000"/>
            <a:ext cx="1800000" cy="1800000"/>
          </a:xfrm>
          <a:prstGeom prst="hexagon">
            <a:avLst/>
          </a:prstGeom>
          <a:noFill/>
          <a:ln w="9525">
            <a:solidFill>
              <a:srgbClr val="00B8B8">
                <a:alpha val="20000"/>
              </a:srgbClr>
            </a:solidFill>
          </a:ln>
        </p:spPr>
        <p:txBody>
          <a:bodyPr/>
          <a:lstStyle/>
          <a:p>
            <a:endParaRPr lang="en-US"/>
          </a:p>
        </p:txBody>
      </p:sp>
      <p:sp>
        <p:nvSpPr>
          <p:cNvPr id="35" name="Hexagon Accent 2">
            <a:extLst>
              <a:ext uri="{FF2B5EF4-FFF2-40B4-BE49-F238E27FC236}">
                <a16:creationId xmlns:a16="http://schemas.microsoft.com/office/drawing/2014/main" id="{228A2DA4-F506-9460-D7B5-36C242B9487C}"/>
              </a:ext>
            </a:extLst>
          </p:cNvPr>
          <p:cNvSpPr/>
          <p:nvPr/>
        </p:nvSpPr>
        <p:spPr>
          <a:xfrm rot="5400000">
            <a:off x="7000000" y="5200000"/>
            <a:ext cx="1400000" cy="1400000"/>
          </a:xfrm>
          <a:prstGeom prst="hexagon">
            <a:avLst/>
          </a:prstGeom>
          <a:noFill/>
          <a:ln w="6350">
            <a:solidFill>
              <a:srgbClr val="00E6E6">
                <a:alpha val="15000"/>
              </a:srgbClr>
            </a:solidFill>
          </a:ln>
        </p:spPr>
        <p:txBody>
          <a:bodyPr/>
          <a:lstStyle/>
          <a:p>
            <a:endParaRPr lang="en-US"/>
          </a:p>
        </p:txBody>
      </p:sp>
      <p:cxnSp>
        <p:nvCxnSpPr>
          <p:cNvPr id="36" name="Line V1">
            <a:extLst>
              <a:ext uri="{FF2B5EF4-FFF2-40B4-BE49-F238E27FC236}">
                <a16:creationId xmlns:a16="http://schemas.microsoft.com/office/drawing/2014/main" id="{588CEB89-4259-B5BC-3E20-F3E5212EAC35}"/>
              </a:ext>
            </a:extLst>
          </p:cNvPr>
          <p:cNvCxnSpPr/>
          <p:nvPr/>
        </p:nvCxnSpPr>
        <p:spPr>
          <a:xfrm>
            <a:off x="6050000" y="500000"/>
            <a:ext cx="0" cy="5858000"/>
          </a:xfrm>
          <a:prstGeom prst="line">
            <a:avLst/>
          </a:prstGeom>
          <a:ln w="6350">
            <a:solidFill>
              <a:srgbClr val="00E6E6">
                <a:alpha val="18000"/>
              </a:srgbClr>
            </a:solidFill>
          </a:ln>
        </p:spPr>
      </p:cxnSp>
      <p:sp>
        <p:nvSpPr>
          <p:cNvPr id="38" name="Subtitle">
            <a:extLst>
              <a:ext uri="{FF2B5EF4-FFF2-40B4-BE49-F238E27FC236}">
                <a16:creationId xmlns:a16="http://schemas.microsoft.com/office/drawing/2014/main" id="{0E10D615-8865-699C-E837-88A6D2A30AA7}"/>
              </a:ext>
            </a:extLst>
          </p:cNvPr>
          <p:cNvSpPr txBox="1">
            <a:spLocks/>
          </p:cNvSpPr>
          <p:nvPr/>
        </p:nvSpPr>
        <p:spPr>
          <a:xfrm>
            <a:off x="800000" y="3509000"/>
            <a:ext cx="6583680" cy="500000"/>
          </a:xfrm>
          <a:prstGeom prst="rect">
            <a:avLst/>
          </a:prstGeom>
        </p:spPr>
        <p:txBody>
          <a:bodyPr wrap="square" lIns="0" tIns="0" rIns="0" bIns="0"/>
          <a:lstStyle/>
          <a:p>
            <a:r>
              <a:rPr lang="en-US"/>
              <a:t>Innovate, Build, Transform with </a:t>
            </a:r>
            <a:r>
              <a:rPr lang="en-US">
                <a:solidFill>
                  <a:srgbClr val="92D050"/>
                </a:solidFill>
              </a:rPr>
              <a:t>Agentic AI</a:t>
            </a:r>
            <a:endParaRPr lang="en-US" sz="1600" b="0" kern="1200">
              <a:solidFill>
                <a:srgbClr val="92D050"/>
              </a:solidFill>
              <a:latin typeface="The Group TEXT"/>
            </a:endParaRPr>
          </a:p>
          <a:p>
            <a:pPr>
              <a:spcBef>
                <a:spcPts val="400"/>
              </a:spcBef>
            </a:pPr>
            <a:r>
              <a:rPr sz="1600" b="1">
                <a:solidFill>
                  <a:srgbClr val="FFFFFF"/>
                </a:solidFill>
                <a:latin typeface="VW Text"/>
              </a:rPr>
              <a:t>Samagra — RFQ Intake &amp; Quote Analysis System</a:t>
            </a:r>
          </a:p>
          <a:p>
            <a:pPr>
              <a:spcBef>
                <a:spcPts val="400"/>
              </a:spcBef>
            </a:pPr>
            <a:r>
              <a:rPr sz="1200" b="0">
                <a:solidFill>
                  <a:srgbClr val="FFFFFF"/>
                </a:solidFill>
                <a:latin typeface="VW Text"/>
              </a:rPr>
              <a:t>Team Dual Core · Final Prototype Solution Deck · i.mobilothon 6.0</a:t>
            </a:r>
          </a:p>
        </p:txBody>
      </p:sp>
      <p:pic>
        <p:nvPicPr>
          <p:cNvPr id="40" name="Picture 39">
            <a:extLst>
              <a:ext uri="{FF2B5EF4-FFF2-40B4-BE49-F238E27FC236}">
                <a16:creationId xmlns:a16="http://schemas.microsoft.com/office/drawing/2014/main" id="{BBE3A5D6-17E0-68F2-B105-0BEFBDB9EC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532" y="2682050"/>
            <a:ext cx="6117831" cy="712955"/>
          </a:xfrm>
          <a:prstGeom prst="rect">
            <a:avLst/>
          </a:prstGeom>
        </p:spPr>
      </p:pic>
    </p:spTree>
    <p:extLst>
      <p:ext uri="{BB962C8B-B14F-4D97-AF65-F5344CB8AC3E}">
        <p14:creationId xmlns:p14="http://schemas.microsoft.com/office/powerpoint/2010/main" val="4096587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Team &amp; Submission Index</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Please complete all fields. All artefacts are submitted through the i.Mobilothon SharePoint portal.</a:t>
            </a:r>
          </a:p>
        </p:txBody>
      </p:sp>
      <p:sp>
        <p:nvSpPr>
          <p:cNvPr id="5" name="Rectangle 4"/>
          <p:cNvSpPr/>
          <p:nvPr/>
        </p:nvSpPr>
        <p:spPr>
          <a:xfrm>
            <a:off x="411480" y="1600200"/>
            <a:ext cx="5623560" cy="266028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dirty="0">
                <a:solidFill>
                  <a:srgbClr val="ACE82E"/>
                </a:solidFill>
                <a:latin typeface="VW Text"/>
              </a:rPr>
              <a:t>TEAM &amp; PROBLEM STATEMENT</a:t>
            </a:r>
          </a:p>
          <a:p>
            <a:pPr>
              <a:spcBef>
                <a:spcPts val="0"/>
              </a:spcBef>
              <a:spcAft>
                <a:spcPts val="200"/>
              </a:spcAft>
            </a:pPr>
            <a:r>
              <a:rPr sz="1000" b="1" dirty="0">
                <a:solidFill>
                  <a:srgbClr val="ACE82E"/>
                </a:solidFill>
                <a:latin typeface="VW Text"/>
              </a:rPr>
              <a:t>Team Name:</a:t>
            </a:r>
          </a:p>
          <a:p>
            <a:pPr>
              <a:spcBef>
                <a:spcPts val="0"/>
              </a:spcBef>
              <a:spcAft>
                <a:spcPts val="100"/>
              </a:spcAft>
            </a:pPr>
            <a:r>
              <a:rPr sz="1000" b="0" dirty="0">
                <a:solidFill>
                  <a:srgbClr val="FFFFFF"/>
                </a:solidFill>
                <a:latin typeface="VW Text"/>
              </a:rPr>
              <a:t>Dual Core</a:t>
            </a:r>
          </a:p>
          <a:p>
            <a:pPr>
              <a:spcBef>
                <a:spcPts val="300"/>
              </a:spcBef>
              <a:spcAft>
                <a:spcPts val="200"/>
              </a:spcAft>
            </a:pPr>
            <a:r>
              <a:rPr sz="1000" b="1" dirty="0">
                <a:solidFill>
                  <a:srgbClr val="ACE82E"/>
                </a:solidFill>
                <a:latin typeface="VW Text"/>
              </a:rPr>
              <a:t>Problem Statement ID &amp; Title:</a:t>
            </a:r>
          </a:p>
          <a:p>
            <a:pPr>
              <a:spcBef>
                <a:spcPts val="0"/>
              </a:spcBef>
              <a:spcAft>
                <a:spcPts val="100"/>
              </a:spcAft>
            </a:pPr>
            <a:r>
              <a:rPr sz="1000" b="0" dirty="0" err="1">
                <a:solidFill>
                  <a:srgbClr val="FFFFFF"/>
                </a:solidFill>
                <a:latin typeface="VW Text"/>
              </a:rPr>
              <a:t>S</a:t>
            </a:r>
            <a:r>
              <a:rPr lang="en-US" sz="1000" b="0" dirty="0" err="1">
                <a:solidFill>
                  <a:srgbClr val="FFFFFF"/>
                </a:solidFill>
                <a:latin typeface="VW Text"/>
              </a:rPr>
              <a:t>amagra</a:t>
            </a:r>
            <a:r>
              <a:rPr sz="1000" b="0" dirty="0">
                <a:solidFill>
                  <a:srgbClr val="FFFFFF"/>
                </a:solidFill>
                <a:latin typeface="VW Text"/>
              </a:rPr>
              <a:t> · RFQ Intake and Quote Analysis System (Challenge 2; challenge owner: Himanshu Tiwari) — product name: </a:t>
            </a:r>
            <a:r>
              <a:rPr sz="1000" b="0" dirty="0" err="1">
                <a:solidFill>
                  <a:srgbClr val="FFFFFF"/>
                </a:solidFill>
                <a:latin typeface="VW Text"/>
              </a:rPr>
              <a:t>Samagra</a:t>
            </a:r>
            <a:endParaRPr sz="1000" b="0" dirty="0">
              <a:solidFill>
                <a:srgbClr val="FFFFFF"/>
              </a:solidFill>
              <a:latin typeface="VW Text"/>
            </a:endParaRPr>
          </a:p>
          <a:p>
            <a:pPr>
              <a:spcBef>
                <a:spcPts val="300"/>
              </a:spcBef>
              <a:spcAft>
                <a:spcPts val="200"/>
              </a:spcAft>
            </a:pPr>
            <a:r>
              <a:rPr sz="1000" b="1" dirty="0">
                <a:solidFill>
                  <a:srgbClr val="ACE82E"/>
                </a:solidFill>
                <a:latin typeface="VW Text"/>
              </a:rPr>
              <a:t>Theme:</a:t>
            </a:r>
          </a:p>
          <a:p>
            <a:pPr>
              <a:spcBef>
                <a:spcPts val="0"/>
              </a:spcBef>
              <a:spcAft>
                <a:spcPts val="100"/>
              </a:spcAft>
            </a:pPr>
            <a:r>
              <a:rPr sz="1000" b="0" dirty="0">
                <a:solidFill>
                  <a:srgbClr val="FFFFFF"/>
                </a:solidFill>
                <a:latin typeface="VW Text"/>
              </a:rPr>
              <a:t>Agentic AI for sub-₹40 lakh General Procurement — from inbox chaos to audit-ready sourcing decisions, for three users: requester, buyer, supplier</a:t>
            </a:r>
          </a:p>
          <a:p>
            <a:pPr>
              <a:spcBef>
                <a:spcPts val="300"/>
              </a:spcBef>
              <a:spcAft>
                <a:spcPts val="200"/>
              </a:spcAft>
            </a:pPr>
            <a:r>
              <a:rPr sz="1000" b="1" dirty="0">
                <a:solidFill>
                  <a:srgbClr val="ACE82E"/>
                </a:solidFill>
                <a:latin typeface="VW Text"/>
              </a:rPr>
              <a:t>Team Members (with department):</a:t>
            </a:r>
          </a:p>
          <a:p>
            <a:pPr>
              <a:spcBef>
                <a:spcPts val="0"/>
              </a:spcBef>
              <a:spcAft>
                <a:spcPts val="100"/>
              </a:spcAft>
            </a:pPr>
            <a:r>
              <a:rPr sz="1000" b="0" dirty="0">
                <a:solidFill>
                  <a:srgbClr val="FFFFFF"/>
                </a:solidFill>
                <a:latin typeface="VW Text"/>
              </a:rPr>
              <a:t>Vedanti Adsare — Digital Workplace &amp; CF Services (I-DI-D): Python development, solution design, procurement process mapping, build lead</a:t>
            </a:r>
          </a:p>
          <a:p>
            <a:pPr>
              <a:spcBef>
                <a:spcPts val="0"/>
              </a:spcBef>
              <a:spcAft>
                <a:spcPts val="100"/>
              </a:spcAft>
            </a:pPr>
            <a:r>
              <a:rPr sz="1000" b="0" dirty="0">
                <a:solidFill>
                  <a:srgbClr val="FFFFFF"/>
                </a:solidFill>
                <a:latin typeface="VW Text"/>
              </a:rPr>
              <a:t>Monesh </a:t>
            </a:r>
            <a:r>
              <a:rPr sz="1000" b="0" dirty="0" err="1">
                <a:solidFill>
                  <a:srgbClr val="FFFFFF"/>
                </a:solidFill>
                <a:latin typeface="VW Text"/>
              </a:rPr>
              <a:t>Deenadayalan</a:t>
            </a:r>
            <a:r>
              <a:rPr sz="1000" b="0" dirty="0">
                <a:solidFill>
                  <a:srgbClr val="FFFFFF"/>
                </a:solidFill>
                <a:latin typeface="VW Text"/>
              </a:rPr>
              <a:t> — ŠKODA Digital Solutions (I-DB-S): testing, validation, demo support</a:t>
            </a:r>
          </a:p>
        </p:txBody>
      </p:sp>
      <p:sp>
        <p:nvSpPr>
          <p:cNvPr id="6" name="Rectangle 5"/>
          <p:cNvSpPr/>
          <p:nvPr/>
        </p:nvSpPr>
        <p:spPr>
          <a:xfrm>
            <a:off x="6153912" y="1600200"/>
            <a:ext cx="5623560" cy="266028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dirty="0">
                <a:solidFill>
                  <a:srgbClr val="ACE82E"/>
                </a:solidFill>
                <a:latin typeface="VW Text"/>
              </a:rPr>
              <a:t>SUBMITTED ARTEFACTS — uploaded to the SharePoint portal</a:t>
            </a:r>
          </a:p>
          <a:p>
            <a:pPr>
              <a:spcBef>
                <a:spcPts val="0"/>
              </a:spcBef>
              <a:spcAft>
                <a:spcPts val="200"/>
              </a:spcAft>
            </a:pPr>
            <a:r>
              <a:rPr sz="1000" b="1" dirty="0">
                <a:solidFill>
                  <a:srgbClr val="ACE82E"/>
                </a:solidFill>
                <a:latin typeface="VW Text"/>
              </a:rPr>
              <a:t>Code package (front end + backend, with run instructions):</a:t>
            </a:r>
          </a:p>
          <a:p>
            <a:pPr>
              <a:spcBef>
                <a:spcPts val="0"/>
              </a:spcBef>
              <a:spcAft>
                <a:spcPts val="100"/>
              </a:spcAft>
            </a:pPr>
            <a:r>
              <a:rPr sz="1000" b="0" dirty="0" err="1">
                <a:solidFill>
                  <a:srgbClr val="FFFFFF"/>
                </a:solidFill>
                <a:latin typeface="VW Text"/>
              </a:rPr>
              <a:t>Samagra</a:t>
            </a:r>
            <a:r>
              <a:rPr sz="1000" b="0" dirty="0">
                <a:solidFill>
                  <a:srgbClr val="FFFFFF"/>
                </a:solidFill>
                <a:latin typeface="VW Text"/>
              </a:rPr>
              <a:t> — </a:t>
            </a:r>
            <a:r>
              <a:rPr sz="1000" b="0" dirty="0" err="1">
                <a:solidFill>
                  <a:srgbClr val="FFFFFF"/>
                </a:solidFill>
                <a:latin typeface="VW Text"/>
              </a:rPr>
              <a:t>FastAPI</a:t>
            </a:r>
            <a:r>
              <a:rPr sz="1000" b="0" dirty="0">
                <a:solidFill>
                  <a:srgbClr val="FFFFFF"/>
                </a:solidFill>
                <a:latin typeface="VW Text"/>
              </a:rPr>
              <a:t> app, README with setup and run.ps1 · </a:t>
            </a:r>
            <a:r>
              <a:rPr lang="en-US" sz="1000" dirty="0">
                <a:hlinkClick r:id="rId2"/>
              </a:rPr>
              <a:t>Challenge - Power Apps</a:t>
            </a:r>
            <a:endParaRPr sz="1000" b="0" dirty="0">
              <a:solidFill>
                <a:srgbClr val="FFFFFF"/>
              </a:solidFill>
              <a:latin typeface="VW Text"/>
            </a:endParaRPr>
          </a:p>
          <a:p>
            <a:pPr>
              <a:spcBef>
                <a:spcPts val="300"/>
              </a:spcBef>
              <a:spcAft>
                <a:spcPts val="200"/>
              </a:spcAft>
            </a:pPr>
            <a:r>
              <a:rPr sz="1000" b="1" dirty="0">
                <a:solidFill>
                  <a:srgbClr val="ACE82E"/>
                </a:solidFill>
                <a:latin typeface="VW Text"/>
              </a:rPr>
              <a:t>Demo video of the working solution:</a:t>
            </a:r>
          </a:p>
          <a:p>
            <a:pPr>
              <a:spcBef>
                <a:spcPts val="0"/>
              </a:spcBef>
              <a:spcAft>
                <a:spcPts val="100"/>
              </a:spcAft>
            </a:pPr>
            <a:r>
              <a:rPr sz="1000" b="0" dirty="0">
                <a:solidFill>
                  <a:srgbClr val="FFFFFF"/>
                </a:solidFill>
                <a:latin typeface="VW Text"/>
              </a:rPr>
              <a:t>Samagra_demo.mp4 (≈ 8 min: intake → case → comparison → gaps → next action → handover → dashboards) · </a:t>
            </a:r>
            <a:r>
              <a:rPr lang="en-US" sz="1000" dirty="0">
                <a:hlinkClick r:id="rId2"/>
              </a:rPr>
              <a:t>Challenge - Power Apps</a:t>
            </a:r>
            <a:endParaRPr sz="1000" b="0" dirty="0">
              <a:solidFill>
                <a:srgbClr val="FFFFFF"/>
              </a:solidFill>
              <a:latin typeface="VW Text"/>
            </a:endParaRPr>
          </a:p>
          <a:p>
            <a:pPr>
              <a:spcBef>
                <a:spcPts val="300"/>
              </a:spcBef>
              <a:spcAft>
                <a:spcPts val="200"/>
              </a:spcAft>
            </a:pPr>
            <a:r>
              <a:rPr sz="1000" b="1" dirty="0">
                <a:solidFill>
                  <a:srgbClr val="ACE82E"/>
                </a:solidFill>
                <a:latin typeface="VW Text"/>
              </a:rPr>
              <a:t>This solution deck:</a:t>
            </a:r>
          </a:p>
          <a:p>
            <a:pPr>
              <a:spcBef>
                <a:spcPts val="0"/>
              </a:spcBef>
              <a:spcAft>
                <a:spcPts val="100"/>
              </a:spcAft>
            </a:pPr>
            <a:r>
              <a:rPr sz="1000" b="0" dirty="0">
                <a:solidFill>
                  <a:srgbClr val="FFFFFF"/>
                </a:solidFill>
                <a:latin typeface="VW Text"/>
              </a:rPr>
              <a:t>Samagra_iMobilothon6_Solution_Deck.pptx </a:t>
            </a:r>
            <a:r>
              <a:rPr sz="1000" b="0">
                <a:solidFill>
                  <a:srgbClr val="FFFFFF"/>
                </a:solidFill>
                <a:latin typeface="VW Text"/>
              </a:rPr>
              <a:t>· </a:t>
            </a:r>
            <a:r>
              <a:rPr lang="en-US" sz="1000">
                <a:hlinkClick r:id="rId2"/>
              </a:rPr>
              <a:t>Challenge - Power Apps</a:t>
            </a:r>
            <a:endParaRPr sz="1000" b="0" dirty="0">
              <a:solidFill>
                <a:srgbClr val="FFFFFF"/>
              </a:solidFill>
              <a:latin typeface="VW Text"/>
            </a:endParaRPr>
          </a:p>
        </p:txBody>
      </p:sp>
      <p:sp>
        <p:nvSpPr>
          <p:cNvPr id="7" name="Rectangle 6"/>
          <p:cNvSpPr/>
          <p:nvPr/>
        </p:nvSpPr>
        <p:spPr>
          <a:xfrm>
            <a:off x="411480" y="4425072"/>
            <a:ext cx="11365992" cy="1654519"/>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DECLARATIONS</a:t>
            </a:r>
          </a:p>
          <a:p>
            <a:pPr>
              <a:spcBef>
                <a:spcPts val="0"/>
              </a:spcBef>
              <a:spcAft>
                <a:spcPts val="100"/>
              </a:spcAft>
            </a:pPr>
            <a:r>
              <a:rPr sz="950" b="0">
                <a:solidFill>
                  <a:srgbClr val="FFFFFF"/>
                </a:solidFill>
                <a:latin typeface="VW Text"/>
              </a:rPr>
              <a:t>All work in this submission was produced by our team during the hackathon build window.</a:t>
            </a:r>
          </a:p>
          <a:p>
            <a:pPr>
              <a:spcBef>
                <a:spcPts val="0"/>
              </a:spcBef>
              <a:spcAft>
                <a:spcPts val="100"/>
              </a:spcAft>
            </a:pPr>
            <a:r>
              <a:rPr sz="950" b="0">
                <a:solidFill>
                  <a:srgbClr val="FFFFFF"/>
                </a:solidFill>
                <a:latin typeface="VW Text"/>
              </a:rPr>
              <a:t>Pre-existing components, starter code, open-source libraries and their licences are declared on slide 4 (Tech Stack): FastAPI, Starlette, Jinja2, uvicorn, httpx, pdfplumber, python-docx, openpyxl, fpdf2, msal, numpy (MIT/BSD/Apache-2.0); Chart.js (MIT) and SheetJS Community (Apache-2.0) in the browser. No starter code was reused.</a:t>
            </a:r>
          </a:p>
          <a:p>
            <a:pPr>
              <a:spcBef>
                <a:spcPts val="0"/>
              </a:spcBef>
              <a:spcAft>
                <a:spcPts val="100"/>
              </a:spcAft>
            </a:pPr>
            <a:r>
              <a:rPr sz="950" b="0">
                <a:solidFill>
                  <a:srgbClr val="FFFFFF"/>
                </a:solidFill>
                <a:latin typeface="VW Text"/>
              </a:rPr>
              <a:t>Every capability we describe as Built is visible in our demo video at the timestamps given on slides 1, 5 and 7. Model: gpt-4o via VW LLMaaS; data: synthetic cases modelled on the organiser's scenario catalogue (agreed with the organiser).</a:t>
            </a:r>
          </a:p>
          <a:p>
            <a:pPr>
              <a:spcBef>
                <a:spcPts val="0"/>
              </a:spcBef>
              <a:spcAft>
                <a:spcPts val="100"/>
              </a:spcAft>
            </a:pPr>
            <a:r>
              <a:rPr sz="950" b="0">
                <a:solidFill>
                  <a:srgbClr val="FFFFFF"/>
                </a:solidFill>
                <a:latin typeface="VW Text"/>
              </a:rPr>
              <a:t>All three artefacts have been uploaded to the SharePoint portal before the deadline.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1 · Solution at a Glance</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Help the reader understand your solution in under a minute.</a:t>
            </a:r>
          </a:p>
        </p:txBody>
      </p:sp>
      <p:sp>
        <p:nvSpPr>
          <p:cNvPr id="5" name="Rectangle 4"/>
          <p:cNvSpPr/>
          <p:nvPr/>
        </p:nvSpPr>
        <p:spPr>
          <a:xfrm>
            <a:off x="411480" y="1600200"/>
            <a:ext cx="6949440" cy="2134519"/>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ONE-SENTENCE SOLUTION SUMMARY  (≤ 30 words)</a:t>
            </a:r>
          </a:p>
          <a:p>
            <a:pPr>
              <a:spcBef>
                <a:spcPts val="0"/>
              </a:spcBef>
              <a:spcAft>
                <a:spcPts val="100"/>
              </a:spcAft>
            </a:pPr>
            <a:r>
              <a:rPr sz="850" b="1">
                <a:solidFill>
                  <a:srgbClr val="FFFFFF"/>
                </a:solidFill>
                <a:latin typeface="VW Text"/>
              </a:rPr>
              <a:t>Samagra gives business users, buyers and suppliers one platform for sub-€50K sourcing — requests and RFQs online, quotations compared by AI on one basis, a next action on every case, and live dashboards — replacing email and Excel.</a:t>
            </a:r>
          </a:p>
          <a:p>
            <a:pPr>
              <a:spcBef>
                <a:spcPts val="300"/>
              </a:spcBef>
              <a:spcAft>
                <a:spcPts val="200"/>
              </a:spcAft>
            </a:pPr>
            <a:r>
              <a:rPr sz="850" b="1">
                <a:solidFill>
                  <a:srgbClr val="ACE82E"/>
                </a:solidFill>
                <a:latin typeface="VW Text"/>
              </a:rPr>
              <a:t>Primary target user:</a:t>
            </a:r>
          </a:p>
          <a:p>
            <a:pPr>
              <a:spcBef>
                <a:spcPts val="0"/>
              </a:spcBef>
              <a:spcAft>
                <a:spcPts val="100"/>
              </a:spcAft>
            </a:pPr>
            <a:r>
              <a:rPr sz="850" b="0">
                <a:solidFill>
                  <a:srgbClr val="FFFFFF"/>
                </a:solidFill>
                <a:latin typeface="VW Text"/>
              </a:rPr>
              <a:t>Three roles on one shared case — the Requester (business user) who raises it, the Buyer (the 4-person GP team at VWGDS India, sub-₹40 lakh sourcing) who works and awards it, and the Supplier who quotes through a private link — plus the procurement head's portfolio view.</a:t>
            </a:r>
          </a:p>
          <a:p>
            <a:pPr>
              <a:spcBef>
                <a:spcPts val="300"/>
              </a:spcBef>
              <a:spcAft>
                <a:spcPts val="200"/>
              </a:spcAft>
            </a:pPr>
            <a:r>
              <a:rPr sz="850" b="1">
                <a:solidFill>
                  <a:srgbClr val="ACE82E"/>
                </a:solidFill>
                <a:latin typeface="VW Text"/>
              </a:rPr>
              <a:t>Core user problem (challenge owner's brief, 3 parts):</a:t>
            </a:r>
          </a:p>
          <a:p>
            <a:pPr>
              <a:spcBef>
                <a:spcPts val="0"/>
              </a:spcBef>
              <a:spcAft>
                <a:spcPts val="100"/>
              </a:spcAft>
            </a:pPr>
            <a:r>
              <a:rPr sz="850" b="0">
                <a:solidFill>
                  <a:srgbClr val="FFFFFF"/>
                </a:solidFill>
                <a:latin typeface="VW Text"/>
              </a:rPr>
              <a:t>Below €50K there is no sourcing tool: (1) RFQs go to suppliers by email and quotes come back by email — no tracking, no structured comparison; (2) requests, RFQs, quotes and SFOs reach Procurement by Outlook — no status, versions or audit trail; (3) buyers keep Excel trackers and mail screenshots for status. Cost ≈ 2 hrs/person/day ≈ 2,000 hrs/yr (validated).</a:t>
            </a:r>
          </a:p>
          <a:p>
            <a:pPr>
              <a:spcBef>
                <a:spcPts val="300"/>
              </a:spcBef>
              <a:spcAft>
                <a:spcPts val="200"/>
              </a:spcAft>
            </a:pPr>
            <a:r>
              <a:rPr sz="850" b="1">
                <a:solidFill>
                  <a:srgbClr val="ACE82E"/>
                </a:solidFill>
                <a:latin typeface="VW Text"/>
              </a:rPr>
              <a:t>Business value:</a:t>
            </a:r>
          </a:p>
          <a:p>
            <a:pPr>
              <a:spcBef>
                <a:spcPts val="0"/>
              </a:spcBef>
              <a:spcAft>
                <a:spcPts val="100"/>
              </a:spcAft>
            </a:pPr>
            <a:r>
              <a:rPr sz="850" b="0">
                <a:solidFill>
                  <a:srgbClr val="FFFFFF"/>
                </a:solidFill>
                <a:latin typeface="VW Text"/>
              </a:rPr>
              <a:t>Hours become minutes — ≈ 2,000 hrs/yr ≈ 1 FTE returned to the GP team without hiring (estimated); every decision audit-ready, every case on a TAT clock.</a:t>
            </a:r>
          </a:p>
        </p:txBody>
      </p:sp>
      <p:sp>
        <p:nvSpPr>
          <p:cNvPr id="6" name="Rectangle 5"/>
          <p:cNvSpPr/>
          <p:nvPr/>
        </p:nvSpPr>
        <p:spPr>
          <a:xfrm>
            <a:off x="7498079" y="1600200"/>
            <a:ext cx="4279392" cy="2134519"/>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SOLUTION TYPE — TICK ONE</a:t>
            </a:r>
          </a:p>
          <a:p>
            <a:pPr>
              <a:spcBef>
                <a:spcPts val="0"/>
              </a:spcBef>
              <a:spcAft>
                <a:spcPts val="100"/>
              </a:spcAft>
            </a:pPr>
            <a:r>
              <a:rPr sz="900" b="0">
                <a:solidFill>
                  <a:srgbClr val="FFFFFF"/>
                </a:solidFill>
                <a:latin typeface="VW Text"/>
              </a:rPr>
              <a:t>□  Single LLM call        □  Prompt chain</a:t>
            </a:r>
          </a:p>
          <a:p>
            <a:pPr>
              <a:spcBef>
                <a:spcPts val="0"/>
              </a:spcBef>
              <a:spcAft>
                <a:spcPts val="100"/>
              </a:spcAft>
            </a:pPr>
            <a:r>
              <a:rPr sz="900" b="0">
                <a:solidFill>
                  <a:srgbClr val="FFFFFF"/>
                </a:solidFill>
                <a:latin typeface="VW Text"/>
              </a:rPr>
              <a:t>□  Tool-calling AI workflow</a:t>
            </a:r>
          </a:p>
          <a:p>
            <a:pPr>
              <a:spcBef>
                <a:spcPts val="0"/>
              </a:spcBef>
              <a:spcAft>
                <a:spcPts val="100"/>
              </a:spcAft>
            </a:pPr>
            <a:r>
              <a:rPr sz="900" b="0">
                <a:solidFill>
                  <a:srgbClr val="FFFFFF"/>
                </a:solidFill>
                <a:latin typeface="VW Text"/>
              </a:rPr>
              <a:t>□  Single AI agent        ☑  Multi-agent system</a:t>
            </a:r>
          </a:p>
          <a:p>
            <a:pPr>
              <a:spcBef>
                <a:spcPts val="0"/>
              </a:spcBef>
              <a:spcAft>
                <a:spcPts val="100"/>
              </a:spcAft>
            </a:pPr>
            <a:r>
              <a:rPr sz="900" b="0">
                <a:solidFill>
                  <a:srgbClr val="FFFFFF"/>
                </a:solidFill>
                <a:latin typeface="VW Text"/>
              </a:rPr>
              <a:t>□  Rule-based automation with AI components</a:t>
            </a:r>
          </a:p>
          <a:p>
            <a:pPr>
              <a:spcBef>
                <a:spcPts val="0"/>
              </a:spcBef>
              <a:spcAft>
                <a:spcPts val="100"/>
              </a:spcAft>
            </a:pPr>
            <a:r>
              <a:rPr sz="900" b="0">
                <a:solidFill>
                  <a:srgbClr val="FFFFFF"/>
                </a:solidFill>
                <a:latin typeface="VW Text"/>
              </a:rPr>
              <a:t>Three agents (Offer, Enquiry, Advisor) on a deterministic core: the model reads and judges, the code counts, ranks and decides. Eight model calls in total, all reading/judgement.</a:t>
            </a:r>
          </a:p>
        </p:txBody>
      </p:sp>
      <p:sp>
        <p:nvSpPr>
          <p:cNvPr id="7" name="TextBox 6"/>
          <p:cNvSpPr txBox="1"/>
          <p:nvPr/>
        </p:nvSpPr>
        <p:spPr>
          <a:xfrm>
            <a:off x="411480" y="3899312"/>
            <a:ext cx="11365992" cy="274320"/>
          </a:xfrm>
          <a:prstGeom prst="rect">
            <a:avLst/>
          </a:prstGeom>
          <a:noFill/>
        </p:spPr>
        <p:txBody>
          <a:bodyPr wrap="square" lIns="0" tIns="0" rIns="0" bIns="0">
            <a:spAutoFit/>
          </a:bodyPr>
          <a:lstStyle/>
          <a:p>
            <a:pPr algn="l"/>
            <a:r>
              <a:rPr sz="1200" b="1">
                <a:solidFill>
                  <a:srgbClr val="ACE82E"/>
                </a:solidFill>
                <a:latin typeface="VW Text"/>
              </a:rPr>
              <a:t>THREE CAPABILITIES THAT WORK TODAY</a:t>
            </a:r>
          </a:p>
        </p:txBody>
      </p:sp>
      <p:graphicFrame>
        <p:nvGraphicFramePr>
          <p:cNvPr id="8" name="Table 7"/>
          <p:cNvGraphicFramePr>
            <a:graphicFrameLocks noGrp="1"/>
          </p:cNvGraphicFramePr>
          <p:nvPr>
            <p:extLst>
              <p:ext uri="{D42A27DB-BD31-4B8C-83A1-F6EECF244321}">
                <p14:modId xmlns:p14="http://schemas.microsoft.com/office/powerpoint/2010/main" val="630086602"/>
              </p:ext>
            </p:extLst>
          </p:nvPr>
        </p:nvGraphicFramePr>
        <p:xfrm>
          <a:off x="411480" y="4210208"/>
          <a:ext cx="11365992" cy="1532184"/>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gridCol w="2724912">
                  <a:extLst>
                    <a:ext uri="{9D8B030D-6E8A-4147-A177-3AD203B41FA5}">
                      <a16:colId xmlns:a16="http://schemas.microsoft.com/office/drawing/2014/main" val="20003"/>
                    </a:ext>
                  </a:extLst>
                </a:gridCol>
              </a:tblGrid>
              <a:tr h="246888">
                <a:tc>
                  <a:txBody>
                    <a:bodyPr/>
                    <a:lstStyle/>
                    <a:p>
                      <a:pPr>
                        <a:defRPr sz="900" b="1">
                          <a:solidFill>
                            <a:srgbClr val="0A3533"/>
                          </a:solidFill>
                          <a:latin typeface="VW Text"/>
                        </a:defRPr>
                      </a:pPr>
                      <a:r>
                        <a:rPr sz="900" b="1">
                          <a:solidFill>
                            <a:srgbClr val="0A3533"/>
                          </a:solidFill>
                          <a:latin typeface="VW Text"/>
                        </a:rPr>
                        <a:t>#</a:t>
                      </a:r>
                    </a:p>
                  </a:txBody>
                  <a:tcPr marL="64008" marR="45720" marT="27432" marB="27432">
                    <a:solidFill>
                      <a:srgbClr val="35D6AE"/>
                    </a:solidFill>
                  </a:tcPr>
                </a:tc>
                <a:tc>
                  <a:txBody>
                    <a:bodyPr/>
                    <a:lstStyle/>
                    <a:p>
                      <a:pPr>
                        <a:defRPr sz="900" b="1">
                          <a:solidFill>
                            <a:srgbClr val="0A3533"/>
                          </a:solidFill>
                          <a:latin typeface="VW Text"/>
                        </a:defRPr>
                      </a:pPr>
                      <a:r>
                        <a:rPr sz="900" b="1">
                          <a:solidFill>
                            <a:srgbClr val="0A3533"/>
                          </a:solidFill>
                          <a:latin typeface="VW Text"/>
                        </a:rPr>
                        <a:t>Working capability</a:t>
                      </a:r>
                    </a:p>
                  </a:txBody>
                  <a:tcPr marL="64008" marR="45720" marT="27432" marB="27432">
                    <a:solidFill>
                      <a:srgbClr val="35D6AE"/>
                    </a:solidFill>
                  </a:tcPr>
                </a:tc>
                <a:tc>
                  <a:txBody>
                    <a:bodyPr/>
                    <a:lstStyle/>
                    <a:p>
                      <a:pPr>
                        <a:defRPr sz="900" b="1">
                          <a:solidFill>
                            <a:srgbClr val="0A3533"/>
                          </a:solidFill>
                          <a:latin typeface="VW Text"/>
                        </a:defRPr>
                      </a:pPr>
                      <a:r>
                        <a:rPr sz="900" b="1">
                          <a:solidFill>
                            <a:srgbClr val="0A3533"/>
                          </a:solidFill>
                          <a:latin typeface="VW Text"/>
                        </a:rPr>
                        <a:t>What the user gets</a:t>
                      </a:r>
                    </a:p>
                  </a:txBody>
                  <a:tcPr marL="64008" marR="45720" marT="27432" marB="27432">
                    <a:solidFill>
                      <a:srgbClr val="35D6AE"/>
                    </a:solidFill>
                  </a:tcPr>
                </a:tc>
                <a:tc>
                  <a:txBody>
                    <a:bodyPr/>
                    <a:lstStyle/>
                    <a:p>
                      <a:pPr>
                        <a:defRPr sz="900" b="1">
                          <a:solidFill>
                            <a:srgbClr val="0A3533"/>
                          </a:solidFill>
                          <a:latin typeface="VW Text"/>
                        </a:defRPr>
                      </a:pPr>
                      <a:r>
                        <a:rPr sz="900" b="1">
                          <a:solidFill>
                            <a:srgbClr val="0A3533"/>
                          </a:solidFill>
                          <a:latin typeface="VW Text"/>
                        </a:rPr>
                        <a:t>Where to see it in the demo video</a:t>
                      </a:r>
                    </a:p>
                  </a:txBody>
                  <a:tcPr marL="64008" marR="45720" marT="27432" marB="27432">
                    <a:solidFill>
                      <a:srgbClr val="35D6AE"/>
                    </a:solidFill>
                  </a:tcPr>
                </a:tc>
                <a:extLst>
                  <a:ext uri="{0D108BD9-81ED-4DB2-BD59-A6C34878D82A}">
                    <a16:rowId xmlns:a16="http://schemas.microsoft.com/office/drawing/2014/main" val="10000"/>
                  </a:ext>
                </a:extLst>
              </a:tr>
              <a:tr h="428432">
                <a:tc>
                  <a:txBody>
                    <a:bodyPr/>
                    <a:lstStyle/>
                    <a:p>
                      <a:pPr>
                        <a:defRPr sz="850" b="1">
                          <a:solidFill>
                            <a:srgbClr val="BFDED8"/>
                          </a:solidFill>
                          <a:latin typeface="VW Text"/>
                        </a:defRPr>
                      </a:pPr>
                      <a:r>
                        <a:rPr sz="800" b="1">
                          <a:solidFill>
                            <a:srgbClr val="FFFFFF"/>
                          </a:solidFill>
                          <a:latin typeface="VW Text"/>
                        </a:rPr>
                        <a:t>1</a:t>
                      </a:r>
                    </a:p>
                  </a:txBody>
                  <a:tcPr marL="64008" marR="45720" marT="18288" marB="18288">
                    <a:solidFill>
                      <a:srgbClr val="125A55"/>
                    </a:solidFill>
                  </a:tcPr>
                </a:tc>
                <a:tc>
                  <a:txBody>
                    <a:bodyPr/>
                    <a:lstStyle/>
                    <a:p>
                      <a:pPr>
                        <a:defRPr sz="850">
                          <a:solidFill>
                            <a:srgbClr val="FFFFFF"/>
                          </a:solidFill>
                          <a:latin typeface="VW Text"/>
                        </a:defRPr>
                      </a:pPr>
                      <a:r>
                        <a:rPr sz="800" b="0">
                          <a:solidFill>
                            <a:srgbClr val="FFFFFF"/>
                          </a:solidFill>
                          <a:latin typeface="VW Text"/>
                        </a:rPr>
                        <a:t>Intake: drop a folder or forward an email — every document is typed, the shopping cart is parsed, the case is created and auto-assigned to the right buyer.</a:t>
                      </a:r>
                      <a:endParaRPr/>
                    </a:p>
                  </a:txBody>
                  <a:tcPr marL="64008" marR="45720" marT="18288" marB="18288">
                    <a:solidFill>
                      <a:srgbClr val="125A55"/>
                    </a:solidFill>
                  </a:tcPr>
                </a:tc>
                <a:tc>
                  <a:txBody>
                    <a:bodyPr/>
                    <a:lstStyle/>
                    <a:p>
                      <a:pPr>
                        <a:defRPr sz="850">
                          <a:solidFill>
                            <a:srgbClr val="FFFFFF"/>
                          </a:solidFill>
                          <a:latin typeface="VW Text"/>
                        </a:defRPr>
                      </a:pPr>
                      <a:r>
                        <a:rPr sz="800" b="0">
                          <a:solidFill>
                            <a:srgbClr val="FFFFFF"/>
                          </a:solidFill>
                          <a:latin typeface="VW Text"/>
                        </a:rPr>
                        <a:t>A complete, structured case in under a minute with no manual tagging or retyping; line items and value filled in.</a:t>
                      </a:r>
                      <a:endParaRPr/>
                    </a:p>
                  </a:txBody>
                  <a:tcPr marL="64008" marR="45720" marT="18288" marB="18288">
                    <a:solidFill>
                      <a:srgbClr val="125A55"/>
                    </a:solidFill>
                  </a:tcPr>
                </a:tc>
                <a:tc>
                  <a:txBody>
                    <a:bodyPr/>
                    <a:lstStyle/>
                    <a:p>
                      <a:pPr>
                        <a:defRPr sz="850">
                          <a:solidFill>
                            <a:srgbClr val="FFFFFF"/>
                          </a:solidFill>
                          <a:latin typeface="VW Text"/>
                        </a:defRPr>
                      </a:pPr>
                      <a:r>
                        <a:rPr sz="800" b="0" dirty="0">
                          <a:solidFill>
                            <a:srgbClr val="FFFFFF"/>
                          </a:solidFill>
                          <a:latin typeface="VW Text"/>
                        </a:rPr>
                        <a:t>≈ 0:45 – </a:t>
                      </a:r>
                      <a:r>
                        <a:rPr lang="en-US" sz="800" b="0" dirty="0">
                          <a:solidFill>
                            <a:srgbClr val="FFFFFF"/>
                          </a:solidFill>
                          <a:latin typeface="VW Text"/>
                        </a:rPr>
                        <a:t>3</a:t>
                      </a:r>
                      <a:r>
                        <a:rPr sz="800" b="0" dirty="0">
                          <a:solidFill>
                            <a:srgbClr val="FFFFFF"/>
                          </a:solidFill>
                          <a:latin typeface="VW Text"/>
                        </a:rPr>
                        <a:t>:</a:t>
                      </a:r>
                      <a:r>
                        <a:rPr lang="en-US" sz="800" b="0" dirty="0">
                          <a:solidFill>
                            <a:srgbClr val="FFFFFF"/>
                          </a:solidFill>
                          <a:latin typeface="VW Text"/>
                        </a:rPr>
                        <a:t>50</a:t>
                      </a:r>
                      <a:r>
                        <a:rPr sz="800" b="0" dirty="0">
                          <a:solidFill>
                            <a:srgbClr val="FFFFFF"/>
                          </a:solidFill>
                          <a:latin typeface="VW Text"/>
                        </a:rPr>
                        <a:t> (new request, tags, ticket, buyer queue)</a:t>
                      </a:r>
                      <a:endParaRPr dirty="0"/>
                    </a:p>
                  </a:txBody>
                  <a:tcPr marL="64008" marR="45720" marT="18288" marB="18288">
                    <a:solidFill>
                      <a:srgbClr val="125A55"/>
                    </a:solidFill>
                  </a:tcPr>
                </a:tc>
                <a:extLst>
                  <a:ext uri="{0D108BD9-81ED-4DB2-BD59-A6C34878D82A}">
                    <a16:rowId xmlns:a16="http://schemas.microsoft.com/office/drawing/2014/main" val="10001"/>
                  </a:ext>
                </a:extLst>
              </a:tr>
              <a:tr h="428432">
                <a:tc>
                  <a:txBody>
                    <a:bodyPr/>
                    <a:lstStyle/>
                    <a:p>
                      <a:pPr>
                        <a:defRPr sz="850" b="1">
                          <a:solidFill>
                            <a:srgbClr val="BFDED8"/>
                          </a:solidFill>
                          <a:latin typeface="VW Text"/>
                        </a:defRPr>
                      </a:pPr>
                      <a:r>
                        <a:rPr sz="800" b="1">
                          <a:solidFill>
                            <a:srgbClr val="FFFFFF"/>
                          </a:solidFill>
                          <a:latin typeface="VW Text"/>
                        </a:rPr>
                        <a:t>2</a:t>
                      </a:r>
                    </a:p>
                  </a:txBody>
                  <a:tcPr marL="64008" marR="45720" marT="18288" marB="18288">
                    <a:solidFill>
                      <a:srgbClr val="10534F"/>
                    </a:solidFill>
                  </a:tcPr>
                </a:tc>
                <a:tc>
                  <a:txBody>
                    <a:bodyPr/>
                    <a:lstStyle/>
                    <a:p>
                      <a:pPr>
                        <a:defRPr sz="850">
                          <a:solidFill>
                            <a:srgbClr val="FFFFFF"/>
                          </a:solidFill>
                          <a:latin typeface="VW Text"/>
                        </a:defRPr>
                      </a:pPr>
                      <a:r>
                        <a:rPr sz="800" b="0">
                          <a:solidFill>
                            <a:srgbClr val="FFFFFF"/>
                          </a:solidFill>
                          <a:latin typeface="VW Text"/>
                        </a:rPr>
                        <a:t>Quote comparison with gaps and a next action — the Offer agent reads each quotation, the code verifies and ranks on net value across currencies/tax, checks scope, flags what is missing and drafts the clarification.</a:t>
                      </a:r>
                      <a:endParaRPr/>
                    </a:p>
                  </a:txBody>
                  <a:tcPr marL="64008" marR="45720" marT="18288" marB="18288">
                    <a:solidFill>
                      <a:srgbClr val="10534F"/>
                    </a:solidFill>
                  </a:tcPr>
                </a:tc>
                <a:tc>
                  <a:txBody>
                    <a:bodyPr/>
                    <a:lstStyle/>
                    <a:p>
                      <a:pPr>
                        <a:defRPr sz="850">
                          <a:solidFill>
                            <a:srgbClr val="FFFFFF"/>
                          </a:solidFill>
                          <a:latin typeface="VW Text"/>
                        </a:defRPr>
                      </a:pPr>
                      <a:r>
                        <a:rPr sz="800" b="0">
                          <a:solidFill>
                            <a:srgbClr val="FFFFFF"/>
                          </a:solidFill>
                          <a:latin typeface="VW Text"/>
                        </a:rPr>
                        <a:t>A side-by-side comparison on one basis, an explicit list of gaps, a pre-written question to the supplier and one recommended action with its reasons.</a:t>
                      </a:r>
                      <a:endParaRPr/>
                    </a:p>
                  </a:txBody>
                  <a:tcPr marL="64008" marR="45720" marT="18288" marB="18288">
                    <a:solidFill>
                      <a:srgbClr val="10534F"/>
                    </a:solidFill>
                  </a:tcPr>
                </a:tc>
                <a:tc>
                  <a:txBody>
                    <a:bodyPr/>
                    <a:lstStyle/>
                    <a:p>
                      <a:pPr>
                        <a:defRPr sz="850">
                          <a:solidFill>
                            <a:srgbClr val="FFFFFF"/>
                          </a:solidFill>
                          <a:latin typeface="VW Text"/>
                        </a:defRPr>
                      </a:pPr>
                      <a:r>
                        <a:rPr sz="800" b="0" dirty="0">
                          <a:solidFill>
                            <a:srgbClr val="FFFFFF"/>
                          </a:solidFill>
                          <a:latin typeface="VW Text"/>
                        </a:rPr>
                        <a:t>≈ </a:t>
                      </a:r>
                      <a:r>
                        <a:rPr lang="en-US" sz="800" b="0" dirty="0">
                          <a:solidFill>
                            <a:srgbClr val="FFFFFF"/>
                          </a:solidFill>
                          <a:latin typeface="VW Text"/>
                        </a:rPr>
                        <a:t>12:0</a:t>
                      </a:r>
                      <a:r>
                        <a:rPr sz="800" b="0" dirty="0">
                          <a:solidFill>
                            <a:srgbClr val="FFFFFF"/>
                          </a:solidFill>
                          <a:latin typeface="VW Text"/>
                        </a:rPr>
                        <a:t>0 – </a:t>
                      </a:r>
                      <a:r>
                        <a:rPr lang="en-US" sz="800" b="0" dirty="0">
                          <a:solidFill>
                            <a:srgbClr val="FFFFFF"/>
                          </a:solidFill>
                          <a:latin typeface="VW Text"/>
                        </a:rPr>
                        <a:t>15</a:t>
                      </a:r>
                      <a:r>
                        <a:rPr sz="800" b="0" dirty="0">
                          <a:solidFill>
                            <a:srgbClr val="FFFFFF"/>
                          </a:solidFill>
                          <a:latin typeface="VW Text"/>
                        </a:rPr>
                        <a:t>:30 (round page chips, drafted email, comparison)</a:t>
                      </a:r>
                      <a:endParaRPr dirty="0"/>
                    </a:p>
                  </a:txBody>
                  <a:tcPr marL="64008" marR="45720" marT="18288" marB="18288">
                    <a:solidFill>
                      <a:srgbClr val="10534F"/>
                    </a:solidFill>
                  </a:tcPr>
                </a:tc>
                <a:extLst>
                  <a:ext uri="{0D108BD9-81ED-4DB2-BD59-A6C34878D82A}">
                    <a16:rowId xmlns:a16="http://schemas.microsoft.com/office/drawing/2014/main" val="10002"/>
                  </a:ext>
                </a:extLst>
              </a:tr>
              <a:tr h="428432">
                <a:tc>
                  <a:txBody>
                    <a:bodyPr/>
                    <a:lstStyle/>
                    <a:p>
                      <a:pPr>
                        <a:defRPr sz="850" b="1">
                          <a:solidFill>
                            <a:srgbClr val="BFDED8"/>
                          </a:solidFill>
                          <a:latin typeface="VW Text"/>
                        </a:defRPr>
                      </a:pPr>
                      <a:r>
                        <a:rPr sz="800" b="1">
                          <a:solidFill>
                            <a:srgbClr val="FFFFFF"/>
                          </a:solidFill>
                          <a:latin typeface="VW Text"/>
                        </a:rPr>
                        <a:t>3</a:t>
                      </a:r>
                    </a:p>
                  </a:txBody>
                  <a:tcPr marL="64008" marR="45720" marT="18288" marB="18288">
                    <a:solidFill>
                      <a:srgbClr val="125A55"/>
                    </a:solidFill>
                  </a:tcPr>
                </a:tc>
                <a:tc>
                  <a:txBody>
                    <a:bodyPr/>
                    <a:lstStyle/>
                    <a:p>
                      <a:pPr>
                        <a:defRPr sz="850">
                          <a:solidFill>
                            <a:srgbClr val="FFFFFF"/>
                          </a:solidFill>
                          <a:latin typeface="VW Text"/>
                        </a:defRPr>
                      </a:pPr>
                      <a:r>
                        <a:rPr sz="800" b="0">
                          <a:solidFill>
                            <a:srgbClr val="FFFFFF"/>
                          </a:solidFill>
                          <a:latin typeface="VW Text"/>
                        </a:rPr>
                        <a:t>Ready-to-award handover — the 11-field contract as an audit pack (every figure linked to its document, gaps labelled) plus JSON export; the buyer approves with a PO number.</a:t>
                      </a:r>
                      <a:endParaRPr/>
                    </a:p>
                  </a:txBody>
                  <a:tcPr marL="64008" marR="45720" marT="18288" marB="18288">
                    <a:solidFill>
                      <a:srgbClr val="125A55"/>
                    </a:solidFill>
                  </a:tcPr>
                </a:tc>
                <a:tc>
                  <a:txBody>
                    <a:bodyPr/>
                    <a:lstStyle/>
                    <a:p>
                      <a:pPr>
                        <a:defRPr sz="850">
                          <a:solidFill>
                            <a:srgbClr val="FFFFFF"/>
                          </a:solidFill>
                          <a:latin typeface="VW Text"/>
                        </a:defRPr>
                      </a:pPr>
                      <a:r>
                        <a:rPr sz="800" b="0">
                          <a:solidFill>
                            <a:srgbClr val="FFFFFF"/>
                          </a:solidFill>
                          <a:latin typeface="VW Text"/>
                        </a:rPr>
                        <a:t>A defensible record for finance/audit and a clean handover the case-management side already consumes; TAT recorded.</a:t>
                      </a:r>
                      <a:endParaRPr/>
                    </a:p>
                  </a:txBody>
                  <a:tcPr marL="64008" marR="45720" marT="18288" marB="18288">
                    <a:solidFill>
                      <a:srgbClr val="125A55"/>
                    </a:solidFill>
                  </a:tcPr>
                </a:tc>
                <a:tc>
                  <a:txBody>
                    <a:bodyPr/>
                    <a:lstStyle/>
                    <a:p>
                      <a:pPr>
                        <a:defRPr sz="850">
                          <a:solidFill>
                            <a:srgbClr val="FFFFFF"/>
                          </a:solidFill>
                          <a:latin typeface="VW Text"/>
                        </a:defRPr>
                      </a:pPr>
                      <a:r>
                        <a:rPr sz="800" b="0" dirty="0">
                          <a:solidFill>
                            <a:srgbClr val="FFFFFF"/>
                          </a:solidFill>
                          <a:latin typeface="VW Text"/>
                        </a:rPr>
                        <a:t>≈ </a:t>
                      </a:r>
                      <a:r>
                        <a:rPr lang="en-US" sz="800" b="0" dirty="0">
                          <a:solidFill>
                            <a:srgbClr val="FFFFFF"/>
                          </a:solidFill>
                          <a:latin typeface="VW Text"/>
                        </a:rPr>
                        <a:t>7:00</a:t>
                      </a:r>
                      <a:r>
                        <a:rPr sz="800" b="0" dirty="0">
                          <a:solidFill>
                            <a:srgbClr val="FFFFFF"/>
                          </a:solidFill>
                          <a:latin typeface="VW Text"/>
                        </a:rPr>
                        <a:t> – 8:30 (Ready to award? tab, Approve)</a:t>
                      </a:r>
                      <a:endParaRPr dirty="0"/>
                    </a:p>
                  </a:txBody>
                  <a:tcPr marL="64008" marR="45720" marT="18288" marB="18288">
                    <a:solidFill>
                      <a:srgbClr val="125A55"/>
                    </a:solidFill>
                  </a:tcPr>
                </a:tc>
                <a:extLst>
                  <a:ext uri="{0D108BD9-81ED-4DB2-BD59-A6C34878D82A}">
                    <a16:rowId xmlns:a16="http://schemas.microsoft.com/office/drawing/2014/main" val="10003"/>
                  </a:ext>
                </a:extLst>
              </a:tr>
            </a:tbl>
          </a:graphicData>
        </a:graphic>
      </p:graphicFrame>
      <p:sp>
        <p:nvSpPr>
          <p:cNvPr id="9" name="Rectangle 8"/>
          <p:cNvSpPr/>
          <p:nvPr/>
        </p:nvSpPr>
        <p:spPr>
          <a:xfrm>
            <a:off x="411480" y="5862392"/>
            <a:ext cx="11365992" cy="749808"/>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WHAT WE BUILT vs WHAT WE PROPOSED</a:t>
            </a:r>
          </a:p>
          <a:p>
            <a:pPr>
              <a:spcBef>
                <a:spcPts val="0"/>
              </a:spcBef>
              <a:spcAft>
                <a:spcPts val="100"/>
              </a:spcAft>
            </a:pPr>
            <a:r>
              <a:rPr sz="850" b="0">
                <a:solidFill>
                  <a:srgbClr val="FFFFFF"/>
                </a:solidFill>
                <a:latin typeface="VW Text"/>
              </a:rPr>
              <a:t>Built and running today:  request portal + mailbox intake, document typing &amp; cart parsing, buyer allocation, TAT clock, supplier RFQ rounds with private links, Offer agent (read → verify → rank → scope → gaps → draft), Advisor next action &amp; alerts, Ready-to-award handover + JSON, three dashboards with Excel export, VW LLMaaS.</a:t>
            </a:r>
          </a:p>
          <a:p>
            <a:pPr>
              <a:spcBef>
                <a:spcPts val="0"/>
              </a:spcBef>
              <a:spcAft>
                <a:spcPts val="100"/>
              </a:spcAft>
            </a:pPr>
            <a:r>
              <a:rPr sz="850" b="0">
                <a:solidFill>
                  <a:srgbClr val="FFFFFF"/>
                </a:solidFill>
                <a:latin typeface="VW Text"/>
              </a:rPr>
              <a:t>Proposed for later:  AI price benchmarking vs past cases &amp; market indices · supplier scoring · negotiation talking points · SAP integration (carts in, POs back) · VW SSO · VW cloud with Postgres · vision for scans.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2 · Problem Understanding &amp; Scope Coverage</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Please list every expected outcome of your problem statement, including those you did not build.</a:t>
            </a:r>
          </a:p>
        </p:txBody>
      </p:sp>
      <p:graphicFrame>
        <p:nvGraphicFramePr>
          <p:cNvPr id="5" name="Table 4"/>
          <p:cNvGraphicFramePr>
            <a:graphicFrameLocks noGrp="1"/>
          </p:cNvGraphicFramePr>
          <p:nvPr/>
        </p:nvGraphicFramePr>
        <p:xfrm>
          <a:off x="411480" y="1572768"/>
          <a:ext cx="11365992" cy="3128945"/>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2450592">
                  <a:extLst>
                    <a:ext uri="{9D8B030D-6E8A-4147-A177-3AD203B41FA5}">
                      <a16:colId xmlns:a16="http://schemas.microsoft.com/office/drawing/2014/main" val="20003"/>
                    </a:ext>
                  </a:extLst>
                </a:gridCol>
              </a:tblGrid>
              <a:tr h="292608">
                <a:tc>
                  <a:txBody>
                    <a:bodyPr/>
                    <a:lstStyle/>
                    <a:p>
                      <a:pPr>
                        <a:defRPr sz="900" b="1">
                          <a:solidFill>
                            <a:srgbClr val="0A3533"/>
                          </a:solidFill>
                          <a:latin typeface="VW Text"/>
                        </a:defRPr>
                      </a:pPr>
                      <a:r>
                        <a:rPr sz="900" b="1">
                          <a:solidFill>
                            <a:srgbClr val="0A3533"/>
                          </a:solidFill>
                          <a:latin typeface="VW Text"/>
                        </a:rPr>
                        <a:t>Expected outcome (from the problem statement)</a:t>
                      </a:r>
                    </a:p>
                  </a:txBody>
                  <a:tcPr marL="64008" marR="45720" marT="27432" marB="27432">
                    <a:solidFill>
                      <a:srgbClr val="35D6AE"/>
                    </a:solidFill>
                  </a:tcPr>
                </a:tc>
                <a:tc>
                  <a:txBody>
                    <a:bodyPr/>
                    <a:lstStyle/>
                    <a:p>
                      <a:pPr>
                        <a:defRPr sz="900" b="1">
                          <a:solidFill>
                            <a:srgbClr val="0A3533"/>
                          </a:solidFill>
                          <a:latin typeface="VW Text"/>
                        </a:defRPr>
                      </a:pPr>
                      <a:r>
                        <a:rPr sz="900" b="1">
                          <a:solidFill>
                            <a:srgbClr val="0A3533"/>
                          </a:solidFill>
                          <a:latin typeface="VW Text"/>
                        </a:rPr>
                        <a:t>Status</a:t>
                      </a:r>
                    </a:p>
                  </a:txBody>
                  <a:tcPr marL="64008" marR="45720" marT="27432" marB="27432">
                    <a:solidFill>
                      <a:srgbClr val="35D6AE"/>
                    </a:solidFill>
                  </a:tcPr>
                </a:tc>
                <a:tc>
                  <a:txBody>
                    <a:bodyPr/>
                    <a:lstStyle/>
                    <a:p>
                      <a:pPr>
                        <a:defRPr sz="900" b="1">
                          <a:solidFill>
                            <a:srgbClr val="0A3533"/>
                          </a:solidFill>
                          <a:latin typeface="VW Text"/>
                        </a:defRPr>
                      </a:pPr>
                      <a:r>
                        <a:rPr sz="900" b="1">
                          <a:solidFill>
                            <a:srgbClr val="0A3533"/>
                          </a:solidFill>
                          <a:latin typeface="VW Text"/>
                        </a:rPr>
                        <a:t>How your solution addresses it</a:t>
                      </a:r>
                    </a:p>
                  </a:txBody>
                  <a:tcPr marL="64008" marR="45720" marT="27432" marB="27432">
                    <a:solidFill>
                      <a:srgbClr val="35D6AE"/>
                    </a:solidFill>
                  </a:tcPr>
                </a:tc>
                <a:tc>
                  <a:txBody>
                    <a:bodyPr/>
                    <a:lstStyle/>
                    <a:p>
                      <a:pPr>
                        <a:defRPr sz="900" b="1">
                          <a:solidFill>
                            <a:srgbClr val="0A3533"/>
                          </a:solidFill>
                          <a:latin typeface="VW Text"/>
                        </a:defRPr>
                      </a:pPr>
                      <a:r>
                        <a:rPr sz="900" b="1">
                          <a:solidFill>
                            <a:srgbClr val="0A3533"/>
                          </a:solidFill>
                          <a:latin typeface="VW Text"/>
                        </a:rPr>
                        <a:t>Where to see it</a:t>
                      </a:r>
                    </a:p>
                  </a:txBody>
                  <a:tcPr marL="64008" marR="45720" marT="27432" marB="27432">
                    <a:solidFill>
                      <a:srgbClr val="35D6AE"/>
                    </a:solidFill>
                  </a:tcPr>
                </a:tc>
                <a:extLst>
                  <a:ext uri="{0D108BD9-81ED-4DB2-BD59-A6C34878D82A}">
                    <a16:rowId xmlns:a16="http://schemas.microsoft.com/office/drawing/2014/main" val="10000"/>
                  </a:ext>
                </a:extLst>
              </a:tr>
              <a:tr h="521396">
                <a:tc>
                  <a:txBody>
                    <a:bodyPr/>
                    <a:lstStyle/>
                    <a:p>
                      <a:pPr>
                        <a:defRPr sz="850" b="1">
                          <a:solidFill>
                            <a:srgbClr val="BFDED8"/>
                          </a:solidFill>
                          <a:latin typeface="VW Text"/>
                        </a:defRPr>
                      </a:pPr>
                      <a:r>
                        <a:rPr sz="750" b="1">
                          <a:solidFill>
                            <a:srgbClr val="FFFFFF"/>
                          </a:solidFill>
                          <a:latin typeface="VW Text"/>
                        </a:rPr>
                        <a:t>P1  Challenge owner: float RFQs to suppliers online, receive quotations online, track responses, compare in a structured way</a:t>
                      </a: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Built</a:t>
                      </a: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Supplier Quotes: requester floats an enquiry (documents, deadline, N suppliers); each supplier gets a private link, uploads or declines; revisions as v2; response bar, deadline, decline tracking; comparison on one basis.</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Supplier Quotes → Float enquiry; round page</a:t>
                      </a:r>
                      <a:endParaRPr/>
                    </a:p>
                  </a:txBody>
                  <a:tcPr marL="64008" marR="45720" marT="18288" marB="18288">
                    <a:solidFill>
                      <a:srgbClr val="125A55"/>
                    </a:solidFill>
                  </a:tcPr>
                </a:tc>
                <a:extLst>
                  <a:ext uri="{0D108BD9-81ED-4DB2-BD59-A6C34878D82A}">
                    <a16:rowId xmlns:a16="http://schemas.microsoft.com/office/drawing/2014/main" val="10001"/>
                  </a:ext>
                </a:extLst>
              </a:tr>
              <a:tr h="405191">
                <a:tc>
                  <a:txBody>
                    <a:bodyPr/>
                    <a:lstStyle/>
                    <a:p>
                      <a:pPr>
                        <a:defRPr sz="850" b="1">
                          <a:solidFill>
                            <a:srgbClr val="BFDED8"/>
                          </a:solidFill>
                          <a:latin typeface="VW Text"/>
                        </a:defRPr>
                      </a:pPr>
                      <a:r>
                        <a:rPr sz="750" b="1">
                          <a:solidFill>
                            <a:srgbClr val="FFFFFF"/>
                          </a:solidFill>
                          <a:latin typeface="VW Text"/>
                        </a:rPr>
                        <a:t>P2  Challenge owner: business users submit requests + RFQ / quotes / SFO to Procurement online with status, history and audit trail</a:t>
                      </a:r>
                    </a:p>
                  </a:txBody>
                  <a:tcPr marL="64008" marR="45720" marT="18288" marB="18288">
                    <a:solidFill>
                      <a:srgbClr val="10534F"/>
                    </a:solidFill>
                  </a:tcPr>
                </a:tc>
                <a:tc>
                  <a:txBody>
                    <a:bodyPr/>
                    <a:lstStyle/>
                    <a:p>
                      <a:pPr>
                        <a:defRPr sz="850">
                          <a:solidFill>
                            <a:srgbClr val="FFFFFF"/>
                          </a:solidFill>
                          <a:latin typeface="VW Text"/>
                        </a:defRPr>
                      </a:pPr>
                      <a:r>
                        <a:rPr sz="750" b="0">
                          <a:solidFill>
                            <a:srgbClr val="FFFFFF"/>
                          </a:solidFill>
                          <a:latin typeface="VW Text"/>
                        </a:rPr>
                        <a:t>Built</a:t>
                      </a:r>
                      <a:endParaRPr/>
                    </a:p>
                  </a:txBody>
                  <a:tcPr marL="64008" marR="45720" marT="18288" marB="18288">
                    <a:solidFill>
                      <a:srgbClr val="10534F"/>
                    </a:solidFill>
                  </a:tcPr>
                </a:tc>
                <a:tc>
                  <a:txBody>
                    <a:bodyPr/>
                    <a:lstStyle/>
                    <a:p>
                      <a:pPr>
                        <a:defRPr sz="850">
                          <a:solidFill>
                            <a:srgbClr val="FFFFFF"/>
                          </a:solidFill>
                          <a:latin typeface="VW Text"/>
                        </a:defRPr>
                      </a:pPr>
                      <a:r>
                        <a:rPr sz="750" b="0">
                          <a:solidFill>
                            <a:srgbClr val="FFFFFF"/>
                          </a:solidFill>
                          <a:latin typeface="VW Text"/>
                        </a:rPr>
                        <a:t>New Sourcing Request (drop a folder, auto-typed, cart parsed) or email intake; case with status, activity timeline, document versions, ask-and-reply, full audit trail; auto-assigned to the right buyer.</a:t>
                      </a:r>
                      <a:endParaRPr/>
                    </a:p>
                  </a:txBody>
                  <a:tcPr marL="64008" marR="45720" marT="18288" marB="18288">
                    <a:solidFill>
                      <a:srgbClr val="10534F"/>
                    </a:solidFill>
                  </a:tcPr>
                </a:tc>
                <a:tc>
                  <a:txBody>
                    <a:bodyPr/>
                    <a:lstStyle/>
                    <a:p>
                      <a:pPr>
                        <a:defRPr sz="850">
                          <a:solidFill>
                            <a:srgbClr val="FFFFFF"/>
                          </a:solidFill>
                          <a:latin typeface="VW Text"/>
                        </a:defRPr>
                      </a:pPr>
                      <a:r>
                        <a:rPr sz="750" b="0">
                          <a:solidFill>
                            <a:srgbClr val="FFFFFF"/>
                          </a:solidFill>
                          <a:latin typeface="VW Text"/>
                        </a:rPr>
                        <a:t>New Sourcing Request; My Requests; Activity tab</a:t>
                      </a:r>
                      <a:endParaRPr/>
                    </a:p>
                  </a:txBody>
                  <a:tcPr marL="64008" marR="45720" marT="18288" marB="18288">
                    <a:solidFill>
                      <a:srgbClr val="10534F"/>
                    </a:solidFill>
                  </a:tcPr>
                </a:tc>
                <a:extLst>
                  <a:ext uri="{0D108BD9-81ED-4DB2-BD59-A6C34878D82A}">
                    <a16:rowId xmlns:a16="http://schemas.microsoft.com/office/drawing/2014/main" val="10002"/>
                  </a:ext>
                </a:extLst>
              </a:tr>
              <a:tr h="405191">
                <a:tc>
                  <a:txBody>
                    <a:bodyPr/>
                    <a:lstStyle/>
                    <a:p>
                      <a:pPr>
                        <a:defRPr sz="850" b="1">
                          <a:solidFill>
                            <a:srgbClr val="BFDED8"/>
                          </a:solidFill>
                          <a:latin typeface="VW Text"/>
                        </a:defRPr>
                      </a:pPr>
                      <a:r>
                        <a:rPr sz="750" b="1">
                          <a:solidFill>
                            <a:srgbClr val="FFFFFF"/>
                          </a:solidFill>
                          <a:latin typeface="VW Text"/>
                        </a:rPr>
                        <a:t>P3  Challenge owner: real-time dashboards, ageing and status instead of Excel trackers and screenshots</a:t>
                      </a: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Built</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Requester, buyer and procurement-head dashboards: open/closed, TAT health (15/30-day), ageing, by department / buyer / commodity / supplier, single sourcing; click-through lists; Excel export with charts.</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Dashboard (all three roles)</a:t>
                      </a:r>
                      <a:endParaRPr/>
                    </a:p>
                  </a:txBody>
                  <a:tcPr marL="64008" marR="45720" marT="18288" marB="18288">
                    <a:solidFill>
                      <a:srgbClr val="125A55"/>
                    </a:solidFill>
                  </a:tcPr>
                </a:tc>
                <a:extLst>
                  <a:ext uri="{0D108BD9-81ED-4DB2-BD59-A6C34878D82A}">
                    <a16:rowId xmlns:a16="http://schemas.microsoft.com/office/drawing/2014/main" val="10003"/>
                  </a:ext>
                </a:extLst>
              </a:tr>
              <a:tr h="405191">
                <a:tc>
                  <a:txBody>
                    <a:bodyPr/>
                    <a:lstStyle/>
                    <a:p>
                      <a:pPr>
                        <a:defRPr sz="850" b="1">
                          <a:solidFill>
                            <a:srgbClr val="BFDED8"/>
                          </a:solidFill>
                          <a:latin typeface="VW Text"/>
                        </a:defRPr>
                      </a:pPr>
                      <a:r>
                        <a:rPr sz="750" b="1">
                          <a:solidFill>
                            <a:srgbClr val="FFFFFF"/>
                          </a:solidFill>
                          <a:latin typeface="VW Text"/>
                        </a:rPr>
                        <a:t>O1–O3  Guide: ingest intake · classify &amp; structure · build a sourcing case</a:t>
                      </a:r>
                    </a:p>
                  </a:txBody>
                  <a:tcPr marL="64008" marR="45720" marT="18288" marB="18288">
                    <a:solidFill>
                      <a:srgbClr val="10534F"/>
                    </a:solidFill>
                  </a:tcPr>
                </a:tc>
                <a:tc>
                  <a:txBody>
                    <a:bodyPr/>
                    <a:lstStyle/>
                    <a:p>
                      <a:pPr>
                        <a:defRPr sz="850">
                          <a:solidFill>
                            <a:srgbClr val="FFFFFF"/>
                          </a:solidFill>
                          <a:latin typeface="VW Text"/>
                        </a:defRPr>
                      </a:pPr>
                      <a:r>
                        <a:rPr sz="750" b="0">
                          <a:solidFill>
                            <a:srgbClr val="FFFFFF"/>
                          </a:solidFill>
                          <a:latin typeface="VW Text"/>
                        </a:rPr>
                        <a:t>Built</a:t>
                      </a:r>
                      <a:endParaRPr/>
                    </a:p>
                  </a:txBody>
                  <a:tcPr marL="64008" marR="45720" marT="18288" marB="18288">
                    <a:solidFill>
                      <a:srgbClr val="10534F"/>
                    </a:solidFill>
                  </a:tcPr>
                </a:tc>
                <a:tc>
                  <a:txBody>
                    <a:bodyPr/>
                    <a:lstStyle/>
                    <a:p>
                      <a:pPr>
                        <a:defRPr sz="850">
                          <a:solidFill>
                            <a:srgbClr val="FFFFFF"/>
                          </a:solidFill>
                          <a:latin typeface="VW Text"/>
                        </a:defRPr>
                      </a:pPr>
                      <a:r>
                        <a:rPr sz="750" b="0">
                          <a:solidFill>
                            <a:srgbClr val="FFFFFF"/>
                          </a:solidFill>
                          <a:latin typeface="VW Text"/>
                        </a:rPr>
                        <a:t>Portal + Graph mailbox; filename rules then model read for type; cart items parsed (model fallback, figures verified); one case record with status, TAT, audit trail.</a:t>
                      </a:r>
                      <a:endParaRPr/>
                    </a:p>
                  </a:txBody>
                  <a:tcPr marL="64008" marR="45720" marT="18288" marB="18288">
                    <a:solidFill>
                      <a:srgbClr val="10534F"/>
                    </a:solidFill>
                  </a:tcPr>
                </a:tc>
                <a:tc>
                  <a:txBody>
                    <a:bodyPr/>
                    <a:lstStyle/>
                    <a:p>
                      <a:pPr>
                        <a:defRPr sz="850">
                          <a:solidFill>
                            <a:srgbClr val="FFFFFF"/>
                          </a:solidFill>
                          <a:latin typeface="VW Text"/>
                        </a:defRPr>
                      </a:pPr>
                      <a:r>
                        <a:rPr sz="750" b="0">
                          <a:solidFill>
                            <a:srgbClr val="FFFFFF"/>
                          </a:solidFill>
                          <a:latin typeface="VW Text"/>
                        </a:rPr>
                        <a:t>Upload tags; Summary tab</a:t>
                      </a:r>
                      <a:endParaRPr/>
                    </a:p>
                  </a:txBody>
                  <a:tcPr marL="64008" marR="45720" marT="18288" marB="18288">
                    <a:solidFill>
                      <a:srgbClr val="10534F"/>
                    </a:solidFill>
                  </a:tcPr>
                </a:tc>
                <a:extLst>
                  <a:ext uri="{0D108BD9-81ED-4DB2-BD59-A6C34878D82A}">
                    <a16:rowId xmlns:a16="http://schemas.microsoft.com/office/drawing/2014/main" val="10004"/>
                  </a:ext>
                </a:extLst>
              </a:tr>
              <a:tr h="288986">
                <a:tc>
                  <a:txBody>
                    <a:bodyPr/>
                    <a:lstStyle/>
                    <a:p>
                      <a:pPr>
                        <a:defRPr sz="850" b="1">
                          <a:solidFill>
                            <a:srgbClr val="BFDED8"/>
                          </a:solidFill>
                          <a:latin typeface="VW Text"/>
                        </a:defRPr>
                      </a:pPr>
                      <a:r>
                        <a:rPr sz="750" b="1">
                          <a:solidFill>
                            <a:srgbClr val="FFFFFF"/>
                          </a:solidFill>
                          <a:latin typeface="VW Text"/>
                        </a:rPr>
                        <a:t>O4  Guide: compare quotes fairly (currency, terms, formats)</a:t>
                      </a: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Built</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Tax stripped where gross, one currency, ranked on net in code with working shown; scope / item check per quote.</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SF-2026-00005 (gross vs net); 3-currency case</a:t>
                      </a:r>
                      <a:endParaRPr/>
                    </a:p>
                  </a:txBody>
                  <a:tcPr marL="64008" marR="45720" marT="18288" marB="18288">
                    <a:solidFill>
                      <a:srgbClr val="125A55"/>
                    </a:solidFill>
                  </a:tcPr>
                </a:tc>
                <a:extLst>
                  <a:ext uri="{0D108BD9-81ED-4DB2-BD59-A6C34878D82A}">
                    <a16:rowId xmlns:a16="http://schemas.microsoft.com/office/drawing/2014/main" val="10005"/>
                  </a:ext>
                </a:extLst>
              </a:tr>
              <a:tr h="405191">
                <a:tc>
                  <a:txBody>
                    <a:bodyPr/>
                    <a:lstStyle/>
                    <a:p>
                      <a:pPr>
                        <a:defRPr sz="850" b="1">
                          <a:solidFill>
                            <a:srgbClr val="BFDED8"/>
                          </a:solidFill>
                          <a:latin typeface="VW Text"/>
                        </a:defRPr>
                      </a:pPr>
                      <a:r>
                        <a:rPr sz="750" b="1">
                          <a:solidFill>
                            <a:srgbClr val="FFFFFF"/>
                          </a:solidFill>
                          <a:latin typeface="VW Text"/>
                        </a:rPr>
                        <a:t>O5–O6  Guide: surface gaps proactively · recommend a next action</a:t>
                      </a: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Built</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25 alert codes from facts (missing doc, single bidder, tax/validity unstated, scope gap, supplier overdue…); Advisor gives one action with its reasons — no model, traceable.</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Next action box; round page chips</a:t>
                      </a:r>
                      <a:endParaRPr/>
                    </a:p>
                  </a:txBody>
                  <a:tcPr marL="64008" marR="45720" marT="18288" marB="18288">
                    <a:solidFill>
                      <a:srgbClr val="125A55"/>
                    </a:solidFill>
                  </a:tcPr>
                </a:tc>
                <a:extLst>
                  <a:ext uri="{0D108BD9-81ED-4DB2-BD59-A6C34878D82A}">
                    <a16:rowId xmlns:a16="http://schemas.microsoft.com/office/drawing/2014/main" val="2471819716"/>
                  </a:ext>
                </a:extLst>
              </a:tr>
              <a:tr h="405191">
                <a:tc>
                  <a:txBody>
                    <a:bodyPr/>
                    <a:lstStyle/>
                    <a:p>
                      <a:pPr>
                        <a:defRPr sz="850" b="1">
                          <a:solidFill>
                            <a:srgbClr val="BFDED8"/>
                          </a:solidFill>
                          <a:latin typeface="VW Text"/>
                        </a:defRPr>
                      </a:pPr>
                      <a:r>
                        <a:rPr sz="750" b="1">
                          <a:solidFill>
                            <a:srgbClr val="FFFFFF"/>
                          </a:solidFill>
                          <a:latin typeface="VW Text"/>
                        </a:rPr>
                        <a:t>O7 + DoD  Guide: clean handover · messy input · robust to swapped data</a:t>
                      </a: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Built</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11-field contract on screen + JSON, gaps labelled, award gate; partial parse / unreadable quote / revised quote flagged not hidden; nothing keys on record IDs.</a:t>
                      </a:r>
                      <a:endParaRPr/>
                    </a:p>
                  </a:txBody>
                  <a:tcPr marL="64008" marR="45720" marT="18288" marB="18288">
                    <a:solidFill>
                      <a:srgbClr val="125A55"/>
                    </a:solidFill>
                  </a:tcPr>
                </a:tc>
                <a:tc>
                  <a:txBody>
                    <a:bodyPr/>
                    <a:lstStyle/>
                    <a:p>
                      <a:pPr>
                        <a:defRPr sz="850">
                          <a:solidFill>
                            <a:srgbClr val="FFFFFF"/>
                          </a:solidFill>
                          <a:latin typeface="VW Text"/>
                        </a:defRPr>
                      </a:pPr>
                      <a:r>
                        <a:rPr sz="750" b="0">
                          <a:solidFill>
                            <a:srgbClr val="FFFFFF"/>
                          </a:solidFill>
                          <a:latin typeface="VW Text"/>
                        </a:rPr>
                        <a:t>Ready to award? tab; FC scope-gap case</a:t>
                      </a:r>
                      <a:endParaRPr/>
                    </a:p>
                  </a:txBody>
                  <a:tcPr marL="64008" marR="45720" marT="18288" marB="18288">
                    <a:solidFill>
                      <a:srgbClr val="125A55"/>
                    </a:solidFill>
                  </a:tcPr>
                </a:tc>
                <a:extLst>
                  <a:ext uri="{0D108BD9-81ED-4DB2-BD59-A6C34878D82A}">
                    <a16:rowId xmlns:a16="http://schemas.microsoft.com/office/drawing/2014/main" val="1452681513"/>
                  </a:ext>
                </a:extLst>
              </a:tr>
            </a:tbl>
          </a:graphicData>
        </a:graphic>
      </p:graphicFrame>
      <p:sp>
        <p:nvSpPr>
          <p:cNvPr id="6" name="Rectangle 5"/>
          <p:cNvSpPr/>
          <p:nvPr/>
        </p:nvSpPr>
        <p:spPr>
          <a:xfrm>
            <a:off x="411480" y="4821713"/>
            <a:ext cx="3657600" cy="18288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SCOPE COVERAGE</a:t>
            </a:r>
          </a:p>
          <a:p>
            <a:pPr>
              <a:spcBef>
                <a:spcPts val="0"/>
              </a:spcBef>
              <a:spcAft>
                <a:spcPts val="100"/>
              </a:spcAft>
            </a:pPr>
            <a:r>
              <a:rPr sz="950" b="1">
                <a:solidFill>
                  <a:srgbClr val="FFFFFF"/>
                </a:solidFill>
                <a:latin typeface="VW Text"/>
              </a:rPr>
              <a:t>Outcomes demonstrated  ───  10 of 10</a:t>
            </a:r>
          </a:p>
          <a:p>
            <a:pPr>
              <a:spcBef>
                <a:spcPts val="0"/>
              </a:spcBef>
              <a:spcAft>
                <a:spcPts val="100"/>
              </a:spcAft>
            </a:pPr>
            <a:r>
              <a:rPr sz="950" b="0">
                <a:solidFill>
                  <a:srgbClr val="FFFFFF"/>
                </a:solidFill>
                <a:latin typeface="VW Text"/>
              </a:rPr>
              <a:t>Coverage %:  100 % — all three problems in the challenge owner's brief and all seven goals of the Challenge-2 guide, plus the Definition of Done.</a:t>
            </a:r>
          </a:p>
          <a:p>
            <a:pPr>
              <a:spcBef>
                <a:spcPts val="0"/>
              </a:spcBef>
              <a:spcAft>
                <a:spcPts val="100"/>
              </a:spcAft>
            </a:pPr>
            <a:r>
              <a:rPr sz="950" b="0">
                <a:solidFill>
                  <a:srgbClr val="FFFFFF"/>
                </a:solidFill>
                <a:latin typeface="VW Text"/>
              </a:rPr>
              <a:t>One live path covers it: request → case → RFQ to suppliers → quotes back → comparison → gaps → next action → award → dashboards.</a:t>
            </a:r>
          </a:p>
        </p:txBody>
      </p:sp>
      <p:sp>
        <p:nvSpPr>
          <p:cNvPr id="7" name="Rectangle 6"/>
          <p:cNvSpPr/>
          <p:nvPr/>
        </p:nvSpPr>
        <p:spPr>
          <a:xfrm>
            <a:off x="4206240" y="4821713"/>
            <a:ext cx="3657600" cy="18288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HARDEST OUTCOME</a:t>
            </a:r>
          </a:p>
          <a:p>
            <a:pPr>
              <a:spcBef>
                <a:spcPts val="0"/>
              </a:spcBef>
              <a:spcAft>
                <a:spcPts val="100"/>
              </a:spcAft>
            </a:pPr>
            <a:r>
              <a:rPr sz="900" b="1">
                <a:solidFill>
                  <a:srgbClr val="FFFFFF"/>
                </a:solidFill>
                <a:latin typeface="VW Text"/>
              </a:rPr>
              <a:t>Which expected outcome was hardest, and why?</a:t>
            </a:r>
          </a:p>
          <a:p>
            <a:pPr>
              <a:spcBef>
                <a:spcPts val="0"/>
              </a:spcBef>
              <a:spcAft>
                <a:spcPts val="100"/>
              </a:spcAft>
            </a:pPr>
            <a:r>
              <a:rPr sz="900" b="0">
                <a:solidFill>
                  <a:srgbClr val="FFFFFF"/>
                </a:solidFill>
                <a:latin typeface="VW Text"/>
              </a:rPr>
              <a:t>O4, comparing quotes fairly. Early on the model invented totals and once claimed 8,800 was lower than 8,500. Fix: the model only reads; every figure must appear in the document's digits, and normalising and ranking moved into code.</a:t>
            </a:r>
          </a:p>
          <a:p>
            <a:pPr>
              <a:spcBef>
                <a:spcPts val="0"/>
              </a:spcBef>
              <a:spcAft>
                <a:spcPts val="100"/>
              </a:spcAft>
            </a:pPr>
            <a:r>
              <a:rPr sz="900" b="1">
                <a:solidFill>
                  <a:srgbClr val="FFFFFF"/>
                </a:solidFill>
                <a:latin typeface="VW Text"/>
              </a:rPr>
              <a:t>What constraint affected it?</a:t>
            </a:r>
          </a:p>
          <a:p>
            <a:pPr>
              <a:spcBef>
                <a:spcPts val="0"/>
              </a:spcBef>
              <a:spcAft>
                <a:spcPts val="100"/>
              </a:spcAft>
            </a:pPr>
            <a:r>
              <a:rPr sz="900" b="0">
                <a:solidFill>
                  <a:srgbClr val="FFFFFF"/>
                </a:solidFill>
                <a:latin typeface="VW Text"/>
              </a:rPr>
              <a:t>Model reliability on messy documents and a small budget — solved by design, not by a bigger model.</a:t>
            </a:r>
          </a:p>
        </p:txBody>
      </p:sp>
      <p:sp>
        <p:nvSpPr>
          <p:cNvPr id="8" name="Rectangle 7"/>
          <p:cNvSpPr/>
          <p:nvPr/>
        </p:nvSpPr>
        <p:spPr>
          <a:xfrm>
            <a:off x="8001000" y="4821713"/>
            <a:ext cx="3776472" cy="18288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INTERPRETATION</a:t>
            </a:r>
          </a:p>
          <a:p>
            <a:pPr>
              <a:spcBef>
                <a:spcPts val="0"/>
              </a:spcBef>
              <a:spcAft>
                <a:spcPts val="100"/>
              </a:spcAft>
            </a:pPr>
            <a:r>
              <a:rPr sz="900" b="1">
                <a:solidFill>
                  <a:srgbClr val="FFFFFF"/>
                </a:solidFill>
                <a:latin typeface="VW Text"/>
              </a:rPr>
              <a:t>Did you interpret any requirement differently?</a:t>
            </a:r>
          </a:p>
          <a:p>
            <a:pPr>
              <a:spcBef>
                <a:spcPts val="0"/>
              </a:spcBef>
              <a:spcAft>
                <a:spcPts val="100"/>
              </a:spcAft>
            </a:pPr>
            <a:r>
              <a:rPr sz="900" b="0">
                <a:solidFill>
                  <a:srgbClr val="FFFFFF"/>
                </a:solidFill>
                <a:latin typeface="VW Text"/>
              </a:rPr>
              <a:t>Supplier-side portal is out of scope, but quotations must arrive somehow: we built a minimal private-link page (no accounts) that only receives files — the comparison still works on uploaded/staged quotes without it.</a:t>
            </a:r>
          </a:p>
          <a:p>
            <a:pPr>
              <a:spcBef>
                <a:spcPts val="0"/>
              </a:spcBef>
              <a:spcAft>
                <a:spcPts val="100"/>
              </a:spcAft>
            </a:pPr>
            <a:r>
              <a:rPr sz="900" b="0">
                <a:solidFill>
                  <a:srgbClr val="FFFFFF"/>
                </a:solidFill>
                <a:latin typeface="VW Text"/>
              </a:rPr>
              <a:t>The handover 'consumer' is inside the same system (case pages, TAT, dashboards) so the contract is demonstrated end-to-end, not just emitted.</a:t>
            </a:r>
          </a:p>
          <a:p>
            <a:pPr>
              <a:spcBef>
                <a:spcPts val="0"/>
              </a:spcBef>
              <a:spcAft>
                <a:spcPts val="100"/>
              </a:spcAft>
            </a:pPr>
            <a:r>
              <a:rPr sz="900" b="0">
                <a:solidFill>
                  <a:srgbClr val="FFFFFF"/>
                </a:solidFill>
                <a:latin typeface="VW Text"/>
              </a:rPr>
              <a:t>Synthetic data of our own, modelled on the organiser's scenario catalogue — agreed with the organiser.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3 · Solution Architecture</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One full-page diagram. Show what runs today and what is planned.</a:t>
            </a:r>
          </a:p>
        </p:txBody>
      </p:sp>
      <p:sp>
        <p:nvSpPr>
          <p:cNvPr id="5" name="Rectangle 4"/>
          <p:cNvSpPr/>
          <p:nvPr/>
        </p:nvSpPr>
        <p:spPr>
          <a:xfrm>
            <a:off x="1533049" y="1496192"/>
            <a:ext cx="9122854" cy="5103808"/>
          </a:xfrm>
          <a:prstGeom prst="rect">
            <a:avLst/>
          </a:prstGeom>
          <a:solidFill>
            <a:srgbClr val="10534F"/>
          </a:solidFill>
          <a:ln w="12700">
            <a:solidFill>
              <a:srgbClr val="35D6AE"/>
            </a:solidFill>
            <a:prstDash val="dash"/>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lstStyle/>
          <a:p>
            <a:pPr algn="l"/>
            <a:endParaRPr/>
          </a:p>
        </p:txBody>
      </p:sp>
      <p:pic>
        <p:nvPicPr>
          <p:cNvPr id="6" name="Picture 5" descr="architecture_diagram.png"/>
          <p:cNvPicPr>
            <a:picLocks noChangeAspect="1"/>
          </p:cNvPicPr>
          <p:nvPr/>
        </p:nvPicPr>
        <p:blipFill>
          <a:blip r:embed="rId2"/>
          <a:stretch>
            <a:fillRect/>
          </a:stretch>
        </p:blipFill>
        <p:spPr>
          <a:xfrm>
            <a:off x="1493049" y="1456192"/>
            <a:ext cx="9122854" cy="51038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4 · AI Agents &amp; Tech Stack</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Name every agent and every technology, and say why each was chosen.</a:t>
            </a:r>
          </a:p>
        </p:txBody>
      </p:sp>
      <p:sp>
        <p:nvSpPr>
          <p:cNvPr id="5" name="TextBox 4"/>
          <p:cNvSpPr txBox="1"/>
          <p:nvPr/>
        </p:nvSpPr>
        <p:spPr>
          <a:xfrm>
            <a:off x="411480" y="1554480"/>
            <a:ext cx="11365992" cy="256032"/>
          </a:xfrm>
          <a:prstGeom prst="rect">
            <a:avLst/>
          </a:prstGeom>
          <a:noFill/>
        </p:spPr>
        <p:txBody>
          <a:bodyPr wrap="square" lIns="0" tIns="0" rIns="0" bIns="0">
            <a:spAutoFit/>
          </a:bodyPr>
          <a:lstStyle/>
          <a:p>
            <a:pPr algn="l"/>
            <a:r>
              <a:rPr sz="1100" b="1">
                <a:solidFill>
                  <a:srgbClr val="ACE82E"/>
                </a:solidFill>
                <a:latin typeface="VW Text"/>
              </a:rPr>
              <a:t>AI AGENT INVENTORY</a:t>
            </a:r>
          </a:p>
        </p:txBody>
      </p:sp>
      <p:graphicFrame>
        <p:nvGraphicFramePr>
          <p:cNvPr id="6" name="Table 5"/>
          <p:cNvGraphicFramePr>
            <a:graphicFrameLocks noGrp="1"/>
          </p:cNvGraphicFramePr>
          <p:nvPr/>
        </p:nvGraphicFramePr>
        <p:xfrm>
          <a:off x="411480" y="1810512"/>
          <a:ext cx="11365992" cy="1500749"/>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444752">
                  <a:extLst>
                    <a:ext uri="{9D8B030D-6E8A-4147-A177-3AD203B41FA5}">
                      <a16:colId xmlns:a16="http://schemas.microsoft.com/office/drawing/2014/main" val="20004"/>
                    </a:ext>
                  </a:extLst>
                </a:gridCol>
              </a:tblGrid>
              <a:tr h="228600">
                <a:tc>
                  <a:txBody>
                    <a:bodyPr/>
                    <a:lstStyle/>
                    <a:p>
                      <a:pPr>
                        <a:defRPr sz="850" b="1">
                          <a:solidFill>
                            <a:srgbClr val="0A3533"/>
                          </a:solidFill>
                          <a:latin typeface="VW Text"/>
                        </a:defRPr>
                      </a:pPr>
                      <a:r>
                        <a:rPr sz="850" b="1">
                          <a:solidFill>
                            <a:srgbClr val="0A3533"/>
                          </a:solidFill>
                          <a:latin typeface="VW Text"/>
                        </a:rPr>
                        <a:t>Agent</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Responsibility</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Tools / APIs / data it can access</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Human approval needed?</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Status</a:t>
                      </a:r>
                    </a:p>
                  </a:txBody>
                  <a:tcPr marL="64008" marR="45720" marT="27432" marB="27432">
                    <a:solidFill>
                      <a:srgbClr val="35D6AE"/>
                    </a:solidFill>
                  </a:tcPr>
                </a:tc>
                <a:extLst>
                  <a:ext uri="{0D108BD9-81ED-4DB2-BD59-A6C34878D82A}">
                    <a16:rowId xmlns:a16="http://schemas.microsoft.com/office/drawing/2014/main" val="10000"/>
                  </a:ext>
                </a:extLst>
              </a:tr>
              <a:tr h="405191">
                <a:tc>
                  <a:txBody>
                    <a:bodyPr/>
                    <a:lstStyle/>
                    <a:p>
                      <a:pPr>
                        <a:defRPr sz="800" b="1">
                          <a:solidFill>
                            <a:srgbClr val="BFDED8"/>
                          </a:solidFill>
                          <a:latin typeface="VW Text"/>
                        </a:defRPr>
                      </a:pPr>
                      <a:r>
                        <a:rPr sz="750" b="1">
                          <a:solidFill>
                            <a:srgbClr val="FFFFFF"/>
                          </a:solidFill>
                          <a:latin typeface="VW Text"/>
                        </a:rPr>
                        <a:t>Offer agent</a:t>
                      </a: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Wakes when a quotation lands (also on demand / sweep): reads each quote, verifies figures, normalises currency &amp; tax, ranks, checks scope, lists gaps, drafts the clarification.</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Case &amp; round records, file repository, text extraction, gpt-4o (LLMaaS), FX/tax normaliser, digit verifier</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Yes — email and award are a person's click</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Built</a:t>
                      </a:r>
                      <a:endParaRPr/>
                    </a:p>
                  </a:txBody>
                  <a:tcPr marL="64008" marR="45720" marT="18288" marB="18288">
                    <a:solidFill>
                      <a:srgbClr val="125A55"/>
                    </a:solidFill>
                  </a:tcPr>
                </a:tc>
                <a:extLst>
                  <a:ext uri="{0D108BD9-81ED-4DB2-BD59-A6C34878D82A}">
                    <a16:rowId xmlns:a16="http://schemas.microsoft.com/office/drawing/2014/main" val="10001"/>
                  </a:ext>
                </a:extLst>
              </a:tr>
              <a:tr h="288986">
                <a:tc>
                  <a:txBody>
                    <a:bodyPr/>
                    <a:lstStyle/>
                    <a:p>
                      <a:pPr>
                        <a:defRPr sz="800" b="1">
                          <a:solidFill>
                            <a:srgbClr val="BFDED8"/>
                          </a:solidFill>
                          <a:latin typeface="VW Text"/>
                        </a:defRPr>
                      </a:pPr>
                      <a:r>
                        <a:rPr sz="750" b="1">
                          <a:solidFill>
                            <a:srgbClr val="FFFFFF"/>
                          </a:solidFill>
                          <a:latin typeface="VW Text"/>
                        </a:rPr>
                        <a:t>Enquiry agent</a:t>
                      </a: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Drafts the covering note to suppliers from the case's own documents; unknowns left as [to confirm].</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Case documents, gpt-4o</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Yes — requester edits and sends</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Built</a:t>
                      </a:r>
                      <a:endParaRPr/>
                    </a:p>
                  </a:txBody>
                  <a:tcPr marL="64008" marR="45720" marT="18288" marB="18288">
                    <a:solidFill>
                      <a:srgbClr val="10534F"/>
                    </a:solidFill>
                  </a:tcPr>
                </a:tc>
                <a:extLst>
                  <a:ext uri="{0D108BD9-81ED-4DB2-BD59-A6C34878D82A}">
                    <a16:rowId xmlns:a16="http://schemas.microsoft.com/office/drawing/2014/main" val="10002"/>
                  </a:ext>
                </a:extLst>
              </a:tr>
              <a:tr h="288986">
                <a:tc>
                  <a:txBody>
                    <a:bodyPr/>
                    <a:lstStyle/>
                    <a:p>
                      <a:pPr>
                        <a:defRPr sz="800" b="1">
                          <a:solidFill>
                            <a:srgbClr val="BFDED8"/>
                          </a:solidFill>
                          <a:latin typeface="VW Text"/>
                        </a:defRPr>
                      </a:pPr>
                      <a:r>
                        <a:rPr sz="750" b="1">
                          <a:solidFill>
                            <a:srgbClr val="FFFFFF"/>
                          </a:solidFill>
                          <a:latin typeface="VW Text"/>
                        </a:rPr>
                        <a:t>Advisor</a:t>
                      </a: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Facts → 25 alert codes → one next action with reasons. Runs on every case view, the queue and the handover.</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Case record only — no model</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n/a — recommends, never acts</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Built</a:t>
                      </a:r>
                      <a:endParaRPr/>
                    </a:p>
                  </a:txBody>
                  <a:tcPr marL="64008" marR="45720" marT="18288" marB="18288">
                    <a:solidFill>
                      <a:srgbClr val="125A55"/>
                    </a:solidFill>
                  </a:tcPr>
                </a:tc>
                <a:extLst>
                  <a:ext uri="{0D108BD9-81ED-4DB2-BD59-A6C34878D82A}">
                    <a16:rowId xmlns:a16="http://schemas.microsoft.com/office/drawing/2014/main" val="10003"/>
                  </a:ext>
                </a:extLst>
              </a:tr>
              <a:tr h="288986">
                <a:tc>
                  <a:txBody>
                    <a:bodyPr/>
                    <a:lstStyle/>
                    <a:p>
                      <a:pPr>
                        <a:defRPr sz="800" b="1">
                          <a:solidFill>
                            <a:srgbClr val="BFDED8"/>
                          </a:solidFill>
                          <a:latin typeface="VW Text"/>
                        </a:defRPr>
                      </a:pPr>
                      <a:r>
                        <a:rPr sz="750" b="1">
                          <a:solidFill>
                            <a:srgbClr val="FFFFFF"/>
                          </a:solidFill>
                          <a:latin typeface="VW Text"/>
                        </a:rPr>
                        <a:t>Tools (not agents): mail reader · Ask this case</a:t>
                      </a: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Email + attachments → form fields with source &amp; confidence; free-text Q&amp;A scoped to one case's documents.</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Microsoft Graph, gpt-4o, department / commodity maps</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Yes — buyer confirms the built case</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Built</a:t>
                      </a:r>
                      <a:endParaRPr/>
                    </a:p>
                  </a:txBody>
                  <a:tcPr marL="64008" marR="45720" marT="18288" marB="18288">
                    <a:solidFill>
                      <a:srgbClr val="10534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411480" y="3493008"/>
            <a:ext cx="11365992" cy="256032"/>
          </a:xfrm>
          <a:prstGeom prst="rect">
            <a:avLst/>
          </a:prstGeom>
          <a:noFill/>
        </p:spPr>
        <p:txBody>
          <a:bodyPr wrap="square" lIns="0" tIns="0" rIns="0" bIns="0">
            <a:spAutoFit/>
          </a:bodyPr>
          <a:lstStyle/>
          <a:p>
            <a:pPr algn="l"/>
            <a:r>
              <a:rPr sz="1100" b="1">
                <a:solidFill>
                  <a:srgbClr val="ACE82E"/>
                </a:solidFill>
                <a:latin typeface="VW Text"/>
              </a:rPr>
              <a:t>TECH STACK DECLARATION — and why each choice was made</a:t>
            </a:r>
          </a:p>
        </p:txBody>
      </p:sp>
      <p:graphicFrame>
        <p:nvGraphicFramePr>
          <p:cNvPr id="8" name="Table 7"/>
          <p:cNvGraphicFramePr>
            <a:graphicFrameLocks noGrp="1"/>
          </p:cNvGraphicFramePr>
          <p:nvPr/>
        </p:nvGraphicFramePr>
        <p:xfrm>
          <a:off x="411480" y="3749039"/>
          <a:ext cx="11365992" cy="2372340"/>
        </p:xfrm>
        <a:graphic>
          <a:graphicData uri="http://schemas.openxmlformats.org/drawingml/2006/table">
            <a:tbl>
              <a:tblPr firstRow="1" bandRow="1">
                <a:tableStyleId>{5C22544A-7EE6-4342-B048-85BDC9FD1C3A}</a:tableStyleId>
              </a:tblPr>
              <a:tblGrid>
                <a:gridCol w="23317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1810512">
                  <a:extLst>
                    <a:ext uri="{9D8B030D-6E8A-4147-A177-3AD203B41FA5}">
                      <a16:colId xmlns:a16="http://schemas.microsoft.com/office/drawing/2014/main" val="20004"/>
                    </a:ext>
                  </a:extLst>
                </a:gridCol>
              </a:tblGrid>
              <a:tr h="182880">
                <a:tc>
                  <a:txBody>
                    <a:bodyPr/>
                    <a:lstStyle/>
                    <a:p>
                      <a:pPr>
                        <a:defRPr sz="850" b="1">
                          <a:solidFill>
                            <a:srgbClr val="0A3533"/>
                          </a:solidFill>
                          <a:latin typeface="VW Text"/>
                        </a:defRPr>
                      </a:pPr>
                      <a:r>
                        <a:rPr sz="850" b="1">
                          <a:solidFill>
                            <a:srgbClr val="0A3533"/>
                          </a:solidFill>
                          <a:latin typeface="VW Text"/>
                        </a:rPr>
                        <a:t>Layer</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Technology / model</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Purpose</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Why selected</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Built or integrated?</a:t>
                      </a:r>
                    </a:p>
                  </a:txBody>
                  <a:tcPr marL="64008" marR="45720" marT="27432" marB="27432">
                    <a:solidFill>
                      <a:srgbClr val="35D6AE"/>
                    </a:solidFill>
                  </a:tcPr>
                </a:tc>
                <a:extLst>
                  <a:ext uri="{0D108BD9-81ED-4DB2-BD59-A6C34878D82A}">
                    <a16:rowId xmlns:a16="http://schemas.microsoft.com/office/drawing/2014/main" val="10000"/>
                  </a:ext>
                </a:extLst>
              </a:tr>
              <a:tr h="165034">
                <a:tc>
                  <a:txBody>
                    <a:bodyPr/>
                    <a:lstStyle/>
                    <a:p>
                      <a:pPr>
                        <a:defRPr sz="800" b="1">
                          <a:solidFill>
                            <a:srgbClr val="BFDED8"/>
                          </a:solidFill>
                          <a:latin typeface="VW Text"/>
                        </a:defRPr>
                      </a:pPr>
                      <a:r>
                        <a:rPr sz="700" b="1">
                          <a:solidFill>
                            <a:srgbClr val="FFFFFF"/>
                          </a:solidFill>
                          <a:latin typeface="VW Text"/>
                        </a:rPr>
                        <a:t>Front end</a:t>
                      </a: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Jinja2 pages, vanilla JS, Chart.js, SheetJS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Requester, buyer, head and supplier UIs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No build step; offline; fast to iterate in 48 h</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25A55"/>
                    </a:solidFill>
                  </a:tcPr>
                </a:tc>
                <a:extLst>
                  <a:ext uri="{0D108BD9-81ED-4DB2-BD59-A6C34878D82A}">
                    <a16:rowId xmlns:a16="http://schemas.microsoft.com/office/drawing/2014/main" val="10001"/>
                  </a:ext>
                </a:extLst>
              </a:tr>
              <a:tr h="273492">
                <a:tc>
                  <a:txBody>
                    <a:bodyPr/>
                    <a:lstStyle/>
                    <a:p>
                      <a:pPr>
                        <a:defRPr sz="800" b="1">
                          <a:solidFill>
                            <a:srgbClr val="BFDED8"/>
                          </a:solidFill>
                          <a:latin typeface="VW Text"/>
                        </a:defRPr>
                      </a:pPr>
                      <a:r>
                        <a:rPr sz="700" b="1">
                          <a:solidFill>
                            <a:srgbClr val="FFFFFF"/>
                          </a:solidFill>
                          <a:latin typeface="VW Text"/>
                        </a:rPr>
                        <a:t>Backend</a:t>
                      </a: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FastAPI (Python 3.14), uvicorn, SQLite</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Intake, case, RFQ, comparison, handover, exports</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Small and typed; SQLite is a real record for a prototype</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0534F"/>
                    </a:solidFill>
                  </a:tcPr>
                </a:tc>
                <a:extLst>
                  <a:ext uri="{0D108BD9-81ED-4DB2-BD59-A6C34878D82A}">
                    <a16:rowId xmlns:a16="http://schemas.microsoft.com/office/drawing/2014/main" val="10002"/>
                  </a:ext>
                </a:extLst>
              </a:tr>
              <a:tr h="273492">
                <a:tc>
                  <a:txBody>
                    <a:bodyPr/>
                    <a:lstStyle/>
                    <a:p>
                      <a:pPr>
                        <a:defRPr sz="800" b="1">
                          <a:solidFill>
                            <a:srgbClr val="BFDED8"/>
                          </a:solidFill>
                          <a:latin typeface="VW Text"/>
                        </a:defRPr>
                      </a:pPr>
                      <a:r>
                        <a:rPr sz="700" b="1">
                          <a:solidFill>
                            <a:srgbClr val="FFFFFF"/>
                          </a:solidFill>
                          <a:latin typeface="VW Text"/>
                        </a:rPr>
                        <a:t>Agent framework / orchestration</a:t>
                      </a: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Own registry (agents/base.py): perceive/decide/act log, event thread, sweep</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Run and log the three agents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No framework overhead; every step auditable</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25A55"/>
                    </a:solidFill>
                  </a:tcPr>
                </a:tc>
                <a:extLst>
                  <a:ext uri="{0D108BD9-81ED-4DB2-BD59-A6C34878D82A}">
                    <a16:rowId xmlns:a16="http://schemas.microsoft.com/office/drawing/2014/main" val="10003"/>
                  </a:ext>
                </a:extLst>
              </a:tr>
              <a:tr h="273492">
                <a:tc>
                  <a:txBody>
                    <a:bodyPr/>
                    <a:lstStyle/>
                    <a:p>
                      <a:pPr>
                        <a:defRPr sz="800" b="1">
                          <a:solidFill>
                            <a:srgbClr val="BFDED8"/>
                          </a:solidFill>
                          <a:latin typeface="VW Text"/>
                        </a:defRPr>
                      </a:pPr>
                      <a:r>
                        <a:rPr sz="700" b="1">
                          <a:solidFill>
                            <a:srgbClr val="FFFFFF"/>
                          </a:solidFill>
                          <a:latin typeface="VW Text"/>
                        </a:rPr>
                        <a:t>AI models</a:t>
                      </a: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gpt-4o via VW LLMaaS (OpenAI-compatible); Ollama fallback; optional vision</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Read documents, judge scope/gaps, comment, draft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VW-approved endpoint; one env var switches backend; temp 0</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Integrated</a:t>
                      </a:r>
                      <a:endParaRPr/>
                    </a:p>
                  </a:txBody>
                  <a:tcPr marL="64008" marR="45720" marT="18288" marB="18288">
                    <a:solidFill>
                      <a:srgbClr val="10534F"/>
                    </a:solidFill>
                  </a:tcPr>
                </a:tc>
                <a:extLst>
                  <a:ext uri="{0D108BD9-81ED-4DB2-BD59-A6C34878D82A}">
                    <a16:rowId xmlns:a16="http://schemas.microsoft.com/office/drawing/2014/main" val="10004"/>
                  </a:ext>
                </a:extLst>
              </a:tr>
              <a:tr h="273492">
                <a:tc>
                  <a:txBody>
                    <a:bodyPr/>
                    <a:lstStyle/>
                    <a:p>
                      <a:pPr>
                        <a:defRPr sz="800" b="1">
                          <a:solidFill>
                            <a:srgbClr val="BFDED8"/>
                          </a:solidFill>
                          <a:latin typeface="VW Text"/>
                        </a:defRPr>
                      </a:pPr>
                      <a:r>
                        <a:rPr sz="700" b="1">
                          <a:solidFill>
                            <a:srgbClr val="FFFFFF"/>
                          </a:solidFill>
                          <a:latin typeface="VW Text"/>
                        </a:rPr>
                        <a:t>Data / vector store</a:t>
                      </a: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SQLite + per-case file repository; no vector store</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Cases, documents, audit trail, rounds, agent runs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Q&amp;A is per case — retrieval by document, no embeddings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25A55"/>
                    </a:solidFill>
                  </a:tcPr>
                </a:tc>
                <a:extLst>
                  <a:ext uri="{0D108BD9-81ED-4DB2-BD59-A6C34878D82A}">
                    <a16:rowId xmlns:a16="http://schemas.microsoft.com/office/drawing/2014/main" val="10005"/>
                  </a:ext>
                </a:extLst>
              </a:tr>
              <a:tr h="273492">
                <a:tc>
                  <a:txBody>
                    <a:bodyPr/>
                    <a:lstStyle/>
                    <a:p>
                      <a:pPr>
                        <a:defRPr sz="800" b="1">
                          <a:solidFill>
                            <a:srgbClr val="BFDED8"/>
                          </a:solidFill>
                          <a:latin typeface="VW Text"/>
                        </a:defRPr>
                      </a:pPr>
                      <a:r>
                        <a:rPr sz="700" b="1">
                          <a:solidFill>
                            <a:srgbClr val="FFFFFF"/>
                          </a:solidFill>
                          <a:latin typeface="VW Text"/>
                        </a:rPr>
                        <a:t>Integrations &amp; APIs</a:t>
                      </a: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Microsoft Graph mailbox, SMTP, openpyxl / fpdf2, Cloudflare tunnel</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Email intake, notifications, Excel/PDF, supplier links</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Real mailbox without a mail server; GP's own formats</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Integrated</a:t>
                      </a:r>
                      <a:endParaRPr/>
                    </a:p>
                  </a:txBody>
                  <a:tcPr marL="64008" marR="45720" marT="18288" marB="18288">
                    <a:solidFill>
                      <a:srgbClr val="10534F"/>
                    </a:solidFill>
                  </a:tcPr>
                </a:tc>
                <a:extLst>
                  <a:ext uri="{0D108BD9-81ED-4DB2-BD59-A6C34878D82A}">
                    <a16:rowId xmlns:a16="http://schemas.microsoft.com/office/drawing/2014/main" val="10006"/>
                  </a:ext>
                </a:extLst>
              </a:tr>
              <a:tr h="273492">
                <a:tc>
                  <a:txBody>
                    <a:bodyPr/>
                    <a:lstStyle/>
                    <a:p>
                      <a:pPr>
                        <a:defRPr sz="800" b="1">
                          <a:solidFill>
                            <a:srgbClr val="BFDED8"/>
                          </a:solidFill>
                          <a:latin typeface="VW Text"/>
                        </a:defRPr>
                      </a:pPr>
                      <a:r>
                        <a:rPr sz="700" b="1">
                          <a:solidFill>
                            <a:srgbClr val="FFFFFF"/>
                          </a:solidFill>
                          <a:latin typeface="VW Text"/>
                        </a:rPr>
                        <a:t>Deployment</a:t>
                      </a: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Local Windows, run.ps1 → uvicorn; secrets in env vars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Demo / pilot on a laptop or on-prem VM</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Zero infrastructure; container + Postgres proposed</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25A55"/>
                    </a:solidFill>
                  </a:tcPr>
                </a:tc>
                <a:extLst>
                  <a:ext uri="{0D108BD9-81ED-4DB2-BD59-A6C34878D82A}">
                    <a16:rowId xmlns:a16="http://schemas.microsoft.com/office/drawing/2014/main" val="10007"/>
                  </a:ext>
                </a:extLst>
              </a:tr>
              <a:tr h="381950">
                <a:tc>
                  <a:txBody>
                    <a:bodyPr/>
                    <a:lstStyle/>
                    <a:p>
                      <a:pPr>
                        <a:defRPr sz="800" b="1">
                          <a:solidFill>
                            <a:srgbClr val="BFDED8"/>
                          </a:solidFill>
                          <a:latin typeface="VW Text"/>
                        </a:defRPr>
                      </a:pPr>
                      <a:r>
                        <a:rPr sz="700" b="1">
                          <a:solidFill>
                            <a:srgbClr val="FFFFFF"/>
                          </a:solidFill>
                          <a:latin typeface="VW Text"/>
                        </a:rPr>
                        <a:t>Security / guardrails</a:t>
                      </a: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Role by email, salted hashes, signed supplier tokens; model figures verified, ranking claims stripped</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Access control; honest AI output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Brief §6: human decides, audit trail, honest confidence</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0534F"/>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411480" y="6179855"/>
            <a:ext cx="11365992" cy="274320"/>
          </a:xfrm>
          <a:prstGeom prst="rect">
            <a:avLst/>
          </a:prstGeom>
          <a:noFill/>
        </p:spPr>
        <p:txBody>
          <a:bodyPr wrap="square" lIns="0" tIns="0" rIns="0" bIns="0">
            <a:noAutofit/>
          </a:bodyPr>
          <a:lstStyle/>
          <a:p>
            <a:pPr algn="l">
              <a:spcBef>
                <a:spcPts val="0"/>
              </a:spcBef>
              <a:spcAft>
                <a:spcPts val="100"/>
              </a:spcAft>
            </a:pPr>
            <a:r>
              <a:rPr sz="800" b="0">
                <a:solidFill>
                  <a:srgbClr val="FFFFFF"/>
                </a:solidFill>
                <a:latin typeface="VW Text"/>
              </a:rPr>
              <a:t>Open source (MIT/BSD/Apache-2.0): FastAPI, Starlette, uvicorn, Jinja2, httpx, pdfplumber, python-docx, openpyxl, fpdf2, msal, numpy, Chart.js, SheetJS. External APIs: VW LLMaaS (gpt-4o), Microsoft Graph. Pre-trained models only (no training). No starter code. Simulated: synthetic case data; FX reference rates configured, not live.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5 · Agentic Approach &amp; Problem-Solving Flow</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Show how the agents and the stack together solve the problem.</a:t>
            </a:r>
          </a:p>
        </p:txBody>
      </p:sp>
      <p:sp>
        <p:nvSpPr>
          <p:cNvPr id="5" name="TextBox 4"/>
          <p:cNvSpPr txBox="1"/>
          <p:nvPr/>
        </p:nvSpPr>
        <p:spPr>
          <a:xfrm>
            <a:off x="411480" y="1554480"/>
            <a:ext cx="11365992" cy="274320"/>
          </a:xfrm>
          <a:prstGeom prst="rect">
            <a:avLst/>
          </a:prstGeom>
          <a:noFill/>
        </p:spPr>
        <p:txBody>
          <a:bodyPr wrap="square" lIns="0" tIns="0" rIns="0" bIns="0">
            <a:spAutoFit/>
          </a:bodyPr>
          <a:lstStyle/>
          <a:p>
            <a:pPr algn="l"/>
            <a:r>
              <a:rPr sz="1100" b="1">
                <a:solidFill>
                  <a:srgbClr val="ACE82E"/>
                </a:solidFill>
                <a:latin typeface="VW Text"/>
              </a:rPr>
              <a:t>AGENT FLOW — adapt this to your own architecture</a:t>
            </a:r>
          </a:p>
        </p:txBody>
      </p:sp>
      <p:sp>
        <p:nvSpPr>
          <p:cNvPr id="6" name="Rounded Rectangle 5"/>
          <p:cNvSpPr/>
          <p:nvPr/>
        </p:nvSpPr>
        <p:spPr>
          <a:xfrm>
            <a:off x="566928" y="1865376"/>
            <a:ext cx="1700784" cy="548640"/>
          </a:xfrm>
          <a:prstGeom prst="roundRect">
            <a:avLst>
              <a:gd name="adj" fmla="val 18000"/>
            </a:avLst>
          </a:prstGeom>
          <a:solidFill>
            <a:srgbClr val="10534F"/>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VW Text"/>
              </a:rPr>
              <a:t>Requester / email / supplier upload</a:t>
            </a:r>
          </a:p>
        </p:txBody>
      </p:sp>
      <p:sp>
        <p:nvSpPr>
          <p:cNvPr id="7" name="Right Arrow 6"/>
          <p:cNvSpPr/>
          <p:nvPr/>
        </p:nvSpPr>
        <p:spPr>
          <a:xfrm>
            <a:off x="2276856" y="2066543"/>
            <a:ext cx="237744" cy="146304"/>
          </a:xfrm>
          <a:prstGeom prst="rightArrow">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395728" y="1865376"/>
            <a:ext cx="1700784" cy="548640"/>
          </a:xfrm>
          <a:prstGeom prst="roundRect">
            <a:avLst>
              <a:gd name="adj" fmla="val 18000"/>
            </a:avLst>
          </a:prstGeom>
          <a:solidFill>
            <a:srgbClr val="10534F"/>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VW Text"/>
              </a:rPr>
              <a:t>Intake: rules + model read, case created</a:t>
            </a:r>
          </a:p>
        </p:txBody>
      </p:sp>
      <p:sp>
        <p:nvSpPr>
          <p:cNvPr id="9" name="Right Arrow 8"/>
          <p:cNvSpPr/>
          <p:nvPr/>
        </p:nvSpPr>
        <p:spPr>
          <a:xfrm>
            <a:off x="4105656" y="2066543"/>
            <a:ext cx="237744" cy="146304"/>
          </a:xfrm>
          <a:prstGeom prst="rightArrow">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224528" y="1865376"/>
            <a:ext cx="1700784" cy="548640"/>
          </a:xfrm>
          <a:prstGeom prst="roundRect">
            <a:avLst>
              <a:gd name="adj" fmla="val 18000"/>
            </a:avLst>
          </a:prstGeom>
          <a:solidFill>
            <a:srgbClr val="10534F"/>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VW Text"/>
              </a:rPr>
              <a:t>Offer agent · Enquiry agent</a:t>
            </a:r>
          </a:p>
        </p:txBody>
      </p:sp>
      <p:sp>
        <p:nvSpPr>
          <p:cNvPr id="11" name="Right Arrow 10"/>
          <p:cNvSpPr/>
          <p:nvPr/>
        </p:nvSpPr>
        <p:spPr>
          <a:xfrm>
            <a:off x="5934456" y="2066543"/>
            <a:ext cx="237744" cy="146304"/>
          </a:xfrm>
          <a:prstGeom prst="rightArrow">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053328" y="1865376"/>
            <a:ext cx="1700784" cy="548640"/>
          </a:xfrm>
          <a:prstGeom prst="roundRect">
            <a:avLst>
              <a:gd name="adj" fmla="val 18000"/>
            </a:avLst>
          </a:prstGeom>
          <a:solidFill>
            <a:srgbClr val="10534F"/>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VW Text"/>
              </a:rPr>
              <a:t>Code verifies figures · Advisor recommends</a:t>
            </a:r>
          </a:p>
        </p:txBody>
      </p:sp>
      <p:sp>
        <p:nvSpPr>
          <p:cNvPr id="13" name="Right Arrow 12"/>
          <p:cNvSpPr/>
          <p:nvPr/>
        </p:nvSpPr>
        <p:spPr>
          <a:xfrm>
            <a:off x="7763256" y="2066543"/>
            <a:ext cx="237744" cy="146304"/>
          </a:xfrm>
          <a:prstGeom prst="rightArrow">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882128" y="1865376"/>
            <a:ext cx="1700784" cy="548640"/>
          </a:xfrm>
          <a:prstGeom prst="roundRect">
            <a:avLst>
              <a:gd name="adj" fmla="val 18000"/>
            </a:avLst>
          </a:prstGeom>
          <a:solidFill>
            <a:srgbClr val="10534F"/>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VW Text"/>
              </a:rPr>
              <a:t>Buyer / requester decides &amp; sends</a:t>
            </a:r>
          </a:p>
        </p:txBody>
      </p:sp>
      <p:sp>
        <p:nvSpPr>
          <p:cNvPr id="15" name="Right Arrow 14"/>
          <p:cNvSpPr/>
          <p:nvPr/>
        </p:nvSpPr>
        <p:spPr>
          <a:xfrm>
            <a:off x="9592056" y="2066543"/>
            <a:ext cx="237744" cy="146304"/>
          </a:xfrm>
          <a:prstGeom prst="rightArrow">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710928" y="1865376"/>
            <a:ext cx="1700784" cy="548640"/>
          </a:xfrm>
          <a:prstGeom prst="roundRect">
            <a:avLst>
              <a:gd name="adj" fmla="val 18000"/>
            </a:avLst>
          </a:prstGeom>
          <a:solidFill>
            <a:srgbClr val="10534F"/>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850" b="1">
                <a:solidFill>
                  <a:srgbClr val="FFFFFF"/>
                </a:solidFill>
                <a:latin typeface="VW Text"/>
              </a:rPr>
              <a:t>PO · handover pack · dashboards</a:t>
            </a:r>
          </a:p>
        </p:txBody>
      </p:sp>
      <p:sp>
        <p:nvSpPr>
          <p:cNvPr id="17" name="TextBox 16"/>
          <p:cNvSpPr txBox="1"/>
          <p:nvPr/>
        </p:nvSpPr>
        <p:spPr>
          <a:xfrm>
            <a:off x="411480" y="2615184"/>
            <a:ext cx="6949440" cy="274320"/>
          </a:xfrm>
          <a:prstGeom prst="rect">
            <a:avLst/>
          </a:prstGeom>
          <a:noFill/>
        </p:spPr>
        <p:txBody>
          <a:bodyPr wrap="square" lIns="0" tIns="0" rIns="0" bIns="0">
            <a:spAutoFit/>
          </a:bodyPr>
          <a:lstStyle/>
          <a:p>
            <a:pPr algn="l"/>
            <a:r>
              <a:rPr sz="1100" b="1">
                <a:solidFill>
                  <a:srgbClr val="ACE82E"/>
                </a:solidFill>
                <a:latin typeface="VW Text"/>
              </a:rPr>
              <a:t>PROBLEM-TO-AGENT MAPPING</a:t>
            </a:r>
          </a:p>
        </p:txBody>
      </p:sp>
      <p:graphicFrame>
        <p:nvGraphicFramePr>
          <p:cNvPr id="18" name="Table 17"/>
          <p:cNvGraphicFramePr>
            <a:graphicFrameLocks noGrp="1"/>
          </p:cNvGraphicFramePr>
          <p:nvPr/>
        </p:nvGraphicFramePr>
        <p:xfrm>
          <a:off x="411480" y="2907792"/>
          <a:ext cx="6949440" cy="1974713"/>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237744">
                <a:tc>
                  <a:txBody>
                    <a:bodyPr/>
                    <a:lstStyle/>
                    <a:p>
                      <a:pPr>
                        <a:defRPr sz="850" b="1">
                          <a:solidFill>
                            <a:srgbClr val="0A3533"/>
                          </a:solidFill>
                          <a:latin typeface="VW Text"/>
                        </a:defRPr>
                      </a:pPr>
                      <a:r>
                        <a:rPr sz="850" b="1">
                          <a:solidFill>
                            <a:srgbClr val="0A3533"/>
                          </a:solidFill>
                          <a:latin typeface="VW Text"/>
                        </a:rPr>
                        <a:t>Workflow step</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Agent responsible</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What it does</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Benefit to the solution</a:t>
                      </a:r>
                    </a:p>
                  </a:txBody>
                  <a:tcPr marL="64008" marR="45720" marT="27432" marB="27432">
                    <a:solidFill>
                      <a:srgbClr val="35D6AE"/>
                    </a:solidFill>
                  </a:tcPr>
                </a:tc>
                <a:extLst>
                  <a:ext uri="{0D108BD9-81ED-4DB2-BD59-A6C34878D82A}">
                    <a16:rowId xmlns:a16="http://schemas.microsoft.com/office/drawing/2014/main" val="10000"/>
                  </a:ext>
                </a:extLst>
              </a:tr>
              <a:tr h="405191">
                <a:tc>
                  <a:txBody>
                    <a:bodyPr/>
                    <a:lstStyle/>
                    <a:p>
                      <a:pPr>
                        <a:defRPr sz="800" b="1">
                          <a:solidFill>
                            <a:srgbClr val="BFDED8"/>
                          </a:solidFill>
                          <a:latin typeface="VW Text"/>
                        </a:defRPr>
                      </a:pPr>
                      <a:r>
                        <a:rPr sz="750" b="1">
                          <a:solidFill>
                            <a:srgbClr val="FFFFFF"/>
                          </a:solidFill>
                          <a:latin typeface="VW Text"/>
                        </a:rPr>
                        <a:t>Intake &amp; classification</a:t>
                      </a: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Document reader (tool) + rules</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Types every file, parses the cart, maps department/commodity, assigns the buyer, starts the checklist</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A structured case with no manual tagging; the model only where filenames and parsers fail</a:t>
                      </a:r>
                      <a:endParaRPr/>
                    </a:p>
                  </a:txBody>
                  <a:tcPr marL="64008" marR="45720" marT="18288" marB="18288">
                    <a:solidFill>
                      <a:srgbClr val="125A55"/>
                    </a:solidFill>
                  </a:tcPr>
                </a:tc>
                <a:extLst>
                  <a:ext uri="{0D108BD9-81ED-4DB2-BD59-A6C34878D82A}">
                    <a16:rowId xmlns:a16="http://schemas.microsoft.com/office/drawing/2014/main" val="10001"/>
                  </a:ext>
                </a:extLst>
              </a:tr>
              <a:tr h="521396">
                <a:tc>
                  <a:txBody>
                    <a:bodyPr/>
                    <a:lstStyle/>
                    <a:p>
                      <a:pPr>
                        <a:defRPr sz="800" b="1">
                          <a:solidFill>
                            <a:srgbClr val="BFDED8"/>
                          </a:solidFill>
                          <a:latin typeface="VW Text"/>
                        </a:defRPr>
                      </a:pPr>
                      <a:r>
                        <a:rPr sz="750" b="1">
                          <a:solidFill>
                            <a:srgbClr val="FFFFFF"/>
                          </a:solidFill>
                          <a:latin typeface="VW Text"/>
                        </a:rPr>
                        <a:t>Quotation arrives</a:t>
                      </a: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Offer agent</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Reads → verifies → normalises → ranks → scope check → gaps → drafts clarification, on its own, in a background thread</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The comparison and the open points are ready before the buyer opens the page</a:t>
                      </a:r>
                      <a:endParaRPr/>
                    </a:p>
                  </a:txBody>
                  <a:tcPr marL="64008" marR="45720" marT="18288" marB="18288">
                    <a:solidFill>
                      <a:srgbClr val="10534F"/>
                    </a:solidFill>
                  </a:tcPr>
                </a:tc>
                <a:extLst>
                  <a:ext uri="{0D108BD9-81ED-4DB2-BD59-A6C34878D82A}">
                    <a16:rowId xmlns:a16="http://schemas.microsoft.com/office/drawing/2014/main" val="10002"/>
                  </a:ext>
                </a:extLst>
              </a:tr>
              <a:tr h="405191">
                <a:tc>
                  <a:txBody>
                    <a:bodyPr/>
                    <a:lstStyle/>
                    <a:p>
                      <a:pPr>
                        <a:defRPr sz="800" b="1">
                          <a:solidFill>
                            <a:srgbClr val="BFDED8"/>
                          </a:solidFill>
                          <a:latin typeface="VW Text"/>
                        </a:defRPr>
                      </a:pPr>
                      <a:r>
                        <a:rPr sz="750" b="1">
                          <a:solidFill>
                            <a:srgbClr val="FFFFFF"/>
                          </a:solidFill>
                          <a:latin typeface="VW Text"/>
                        </a:rPr>
                        <a:t>Every case view</a:t>
                      </a: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Advisor (rules)</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Facts → alerts → one next action with reasons; blocks award on scope gap / unstated tax</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A buyer always knows what to do next, and why — traceable, never a paraphrase</a:t>
                      </a:r>
                      <a:endParaRPr/>
                    </a:p>
                  </a:txBody>
                  <a:tcPr marL="64008" marR="45720" marT="18288" marB="18288">
                    <a:solidFill>
                      <a:srgbClr val="125A55"/>
                    </a:solidFill>
                  </a:tcPr>
                </a:tc>
                <a:extLst>
                  <a:ext uri="{0D108BD9-81ED-4DB2-BD59-A6C34878D82A}">
                    <a16:rowId xmlns:a16="http://schemas.microsoft.com/office/drawing/2014/main" val="10003"/>
                  </a:ext>
                </a:extLst>
              </a:tr>
              <a:tr h="405191">
                <a:tc>
                  <a:txBody>
                    <a:bodyPr/>
                    <a:lstStyle/>
                    <a:p>
                      <a:pPr>
                        <a:defRPr sz="800" b="1">
                          <a:solidFill>
                            <a:srgbClr val="BFDED8"/>
                          </a:solidFill>
                          <a:latin typeface="VW Text"/>
                        </a:defRPr>
                      </a:pPr>
                      <a:r>
                        <a:rPr sz="750" b="1">
                          <a:solidFill>
                            <a:srgbClr val="FFFFFF"/>
                          </a:solidFill>
                          <a:latin typeface="VW Text"/>
                        </a:rPr>
                        <a:t>Floating an enquiry</a:t>
                      </a: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Enquiry agent</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Drafts the supplier note from case documents; unknowns marked [to confirm]</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Minutes saved per enquiry; nothing sent without a person</a:t>
                      </a:r>
                      <a:endParaRPr/>
                    </a:p>
                  </a:txBody>
                  <a:tcPr marL="64008" marR="45720" marT="18288" marB="18288">
                    <a:solidFill>
                      <a:srgbClr val="10534F"/>
                    </a:solidFill>
                  </a:tcPr>
                </a:tc>
                <a:extLst>
                  <a:ext uri="{0D108BD9-81ED-4DB2-BD59-A6C34878D82A}">
                    <a16:rowId xmlns:a16="http://schemas.microsoft.com/office/drawing/2014/main" val="10004"/>
                  </a:ext>
                </a:extLst>
              </a:tr>
            </a:tbl>
          </a:graphicData>
        </a:graphic>
      </p:graphicFrame>
      <p:sp>
        <p:nvSpPr>
          <p:cNvPr id="19" name="Rectangle 18"/>
          <p:cNvSpPr/>
          <p:nvPr/>
        </p:nvSpPr>
        <p:spPr>
          <a:xfrm>
            <a:off x="7498079" y="2615184"/>
            <a:ext cx="4279392" cy="315468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“WHY AI AGENTS?” — PLEASE ANSWER ALL FOUR</a:t>
            </a:r>
          </a:p>
          <a:p>
            <a:pPr>
              <a:spcBef>
                <a:spcPts val="0"/>
              </a:spcBef>
              <a:spcAft>
                <a:spcPts val="100"/>
              </a:spcAft>
            </a:pPr>
            <a:r>
              <a:rPr sz="800" b="1">
                <a:solidFill>
                  <a:srgbClr val="FFFFFF"/>
                </a:solidFill>
                <a:latin typeface="VW Text"/>
              </a:rPr>
              <a:t>1. Why is an AI agent needed?</a:t>
            </a:r>
          </a:p>
          <a:p>
            <a:pPr>
              <a:spcBef>
                <a:spcPts val="0"/>
              </a:spcBef>
              <a:spcAft>
                <a:spcPts val="100"/>
              </a:spcAft>
            </a:pPr>
            <a:r>
              <a:rPr sz="800" b="0">
                <a:solidFill>
                  <a:srgbClr val="FFFFFF"/>
                </a:solidFill>
                <a:latin typeface="VW Text"/>
              </a:rPr>
              <a:t>Quotations, carts and emails are unstructured and inconsistent; reading them, judging whether a quote covers the scope, and deciding what to ask a supplier needs multi-step reasoning over documents, not a template.</a:t>
            </a:r>
          </a:p>
          <a:p>
            <a:pPr>
              <a:spcBef>
                <a:spcPts val="0"/>
              </a:spcBef>
              <a:spcAft>
                <a:spcPts val="100"/>
              </a:spcAft>
            </a:pPr>
            <a:r>
              <a:rPr sz="800" b="1">
                <a:solidFill>
                  <a:srgbClr val="FFFFFF"/>
                </a:solidFill>
                <a:latin typeface="VW Text"/>
              </a:rPr>
              <a:t>2. Why is normal automation not enough?</a:t>
            </a:r>
          </a:p>
          <a:p>
            <a:pPr>
              <a:spcBef>
                <a:spcPts val="0"/>
              </a:spcBef>
              <a:spcAft>
                <a:spcPts val="100"/>
              </a:spcAft>
            </a:pPr>
            <a:r>
              <a:rPr sz="800" b="0">
                <a:solidFill>
                  <a:srgbClr val="FFFFFF"/>
                </a:solidFill>
                <a:latin typeface="VW Text"/>
              </a:rPr>
              <a:t>Rules cannot read a supplier's PDF or say what it leaves out. But rules can — and here do — verify, normalise, rank, time and decide. The split is deliberate.</a:t>
            </a:r>
          </a:p>
          <a:p>
            <a:pPr>
              <a:spcBef>
                <a:spcPts val="0"/>
              </a:spcBef>
              <a:spcAft>
                <a:spcPts val="100"/>
              </a:spcAft>
            </a:pPr>
            <a:r>
              <a:rPr sz="800" b="1">
                <a:solidFill>
                  <a:srgbClr val="FFFFFF"/>
                </a:solidFill>
                <a:latin typeface="VW Text"/>
              </a:rPr>
              <a:t>3. Why more than one agent?</a:t>
            </a:r>
          </a:p>
          <a:p>
            <a:pPr>
              <a:spcBef>
                <a:spcPts val="0"/>
              </a:spcBef>
              <a:spcAft>
                <a:spcPts val="100"/>
              </a:spcAft>
            </a:pPr>
            <a:r>
              <a:rPr sz="800" b="0">
                <a:solidFill>
                  <a:srgbClr val="FFFFFF"/>
                </a:solidFill>
                <a:latin typeface="VW Text"/>
              </a:rPr>
              <a:t>Different triggers and responsibilities: the Offer agent reacts to a supplier event; the Enquiry agent drafts on request; the Advisor validates independently from facts and never calls a model — so it can catch the others.</a:t>
            </a:r>
          </a:p>
          <a:p>
            <a:pPr>
              <a:spcBef>
                <a:spcPts val="0"/>
              </a:spcBef>
              <a:spcAft>
                <a:spcPts val="100"/>
              </a:spcAft>
            </a:pPr>
            <a:r>
              <a:rPr sz="800" b="1">
                <a:solidFill>
                  <a:srgbClr val="FFFFFF"/>
                </a:solidFill>
                <a:latin typeface="VW Text"/>
              </a:rPr>
              <a:t>4. What benefit do the agents deliver?</a:t>
            </a:r>
          </a:p>
          <a:p>
            <a:pPr>
              <a:spcBef>
                <a:spcPts val="0"/>
              </a:spcBef>
              <a:spcAft>
                <a:spcPts val="100"/>
              </a:spcAft>
            </a:pPr>
            <a:r>
              <a:rPr sz="800" b="0">
                <a:solidFill>
                  <a:srgbClr val="FFFFFF"/>
                </a:solidFill>
                <a:latin typeface="VW Text"/>
              </a:rPr>
              <a:t>Comparison and gaps ready in ~15 s instead of a hand-built spreadsheet; missing information asked for before it blocks the award; a justified next action on every case; an audit pack that traces every figure.</a:t>
            </a:r>
          </a:p>
        </p:txBody>
      </p:sp>
      <p:sp>
        <p:nvSpPr>
          <p:cNvPr id="20" name="Rectangle 19"/>
          <p:cNvSpPr/>
          <p:nvPr/>
        </p:nvSpPr>
        <p:spPr>
          <a:xfrm>
            <a:off x="411480" y="4982505"/>
            <a:ext cx="6949440" cy="1362456"/>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ALSO DESCRIBE</a:t>
            </a:r>
          </a:p>
          <a:p>
            <a:pPr>
              <a:spcBef>
                <a:spcPts val="0"/>
              </a:spcBef>
              <a:spcAft>
                <a:spcPts val="100"/>
              </a:spcAft>
            </a:pPr>
            <a:r>
              <a:rPr sz="800" b="0">
                <a:solidFill>
                  <a:srgbClr val="FFFFFF"/>
                </a:solidFill>
                <a:latin typeface="VW Text"/>
              </a:rPr>
              <a:t>Trigger &amp; decomposition: a quotation landing (thread), a button, or a sweep starts the Offer agent, which runs read → verify → normalise/rank → scope → gaps → draft as separate steps with a perceive/decide/act log. Context passes as the structured case record (SQLite), never as chat history. Tools are chosen by step: text extraction for any file type, the digit verifier after every model read, FX/tax normaliser before ranking, the ranking-claim stripper after commentary. Validation: figures must exist in the document, confidence is stored, the Advisor re-derives alerts from facts and blocks the award on unresolved points. Human review: the buyer checks documents, sends every clarification, approves or rejects; the requester sends every enquiry. Failure handling: any model error is shown in place and the deterministic path still completes.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6 · Innovation &amp; Beyond the Brief</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Tell us what is different about your approach and what you added beyond the brief.</a:t>
            </a:r>
          </a:p>
        </p:txBody>
      </p:sp>
      <p:sp>
        <p:nvSpPr>
          <p:cNvPr id="5" name="TextBox 4"/>
          <p:cNvSpPr txBox="1"/>
          <p:nvPr/>
        </p:nvSpPr>
        <p:spPr>
          <a:xfrm>
            <a:off x="411480" y="1554480"/>
            <a:ext cx="11365992" cy="256032"/>
          </a:xfrm>
          <a:prstGeom prst="rect">
            <a:avLst/>
          </a:prstGeom>
          <a:noFill/>
        </p:spPr>
        <p:txBody>
          <a:bodyPr wrap="square" lIns="0" tIns="0" rIns="0" bIns="0">
            <a:spAutoFit/>
          </a:bodyPr>
          <a:lstStyle/>
          <a:p>
            <a:pPr algn="l"/>
            <a:r>
              <a:rPr sz="1050" b="1">
                <a:solidFill>
                  <a:srgbClr val="ACE82E"/>
                </a:solidFill>
                <a:latin typeface="VW Text"/>
              </a:rPr>
              <a:t>A · CORE INNOVATION</a:t>
            </a:r>
          </a:p>
        </p:txBody>
      </p:sp>
      <p:graphicFrame>
        <p:nvGraphicFramePr>
          <p:cNvPr id="6" name="Table 5"/>
          <p:cNvGraphicFramePr>
            <a:graphicFrameLocks noGrp="1"/>
          </p:cNvGraphicFramePr>
          <p:nvPr/>
        </p:nvGraphicFramePr>
        <p:xfrm>
          <a:off x="411480" y="1810512"/>
          <a:ext cx="11365992" cy="131171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1673352">
                  <a:extLst>
                    <a:ext uri="{9D8B030D-6E8A-4147-A177-3AD203B41FA5}">
                      <a16:colId xmlns:a16="http://schemas.microsoft.com/office/drawing/2014/main" val="20004"/>
                    </a:ext>
                  </a:extLst>
                </a:gridCol>
              </a:tblGrid>
              <a:tr h="274320">
                <a:tc>
                  <a:txBody>
                    <a:bodyPr/>
                    <a:lstStyle/>
                    <a:p>
                      <a:pPr>
                        <a:defRPr sz="850" b="1">
                          <a:solidFill>
                            <a:srgbClr val="0A3533"/>
                          </a:solidFill>
                          <a:latin typeface="VW Text"/>
                        </a:defRPr>
                      </a:pPr>
                      <a:r>
                        <a:rPr sz="850" b="1">
                          <a:solidFill>
                            <a:srgbClr val="0A3533"/>
                          </a:solidFill>
                          <a:latin typeface="VW Text"/>
                        </a:rPr>
                        <a:t>Innovation</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Conventional approach</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Your approach</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Improvement achieved</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Where to see it</a:t>
                      </a:r>
                    </a:p>
                  </a:txBody>
                  <a:tcPr marL="64008" marR="45720" marT="27432" marB="27432">
                    <a:solidFill>
                      <a:srgbClr val="35D6AE"/>
                    </a:solidFill>
                  </a:tcPr>
                </a:tc>
                <a:extLst>
                  <a:ext uri="{0D108BD9-81ED-4DB2-BD59-A6C34878D82A}">
                    <a16:rowId xmlns:a16="http://schemas.microsoft.com/office/drawing/2014/main" val="10000"/>
                  </a:ext>
                </a:extLst>
              </a:tr>
              <a:tr h="381950">
                <a:tc>
                  <a:txBody>
                    <a:bodyPr/>
                    <a:lstStyle/>
                    <a:p>
                      <a:pPr>
                        <a:defRPr sz="800" b="1">
                          <a:solidFill>
                            <a:srgbClr val="BFDED8"/>
                          </a:solidFill>
                          <a:latin typeface="VW Text"/>
                        </a:defRPr>
                      </a:pPr>
                      <a:r>
                        <a:rPr sz="700" b="1">
                          <a:solidFill>
                            <a:srgbClr val="FFFFFF"/>
                          </a:solidFill>
                          <a:latin typeface="VW Text"/>
                        </a:rPr>
                        <a:t>One platform for all three problems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A mail template for RFQs, a folder for documents, an Excel tracker for status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One case record shared by requester, buyer and supplier — request → RFQ round → quotes → comparison → award → dashboard; audit trail as a side effect</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Owner's three problems closed in one build; no tracker, no screenshots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Whole demo</a:t>
                      </a:r>
                      <a:endParaRPr/>
                    </a:p>
                  </a:txBody>
                  <a:tcPr marL="64008" marR="45720" marT="18288" marB="18288">
                    <a:solidFill>
                      <a:srgbClr val="125A55"/>
                    </a:solidFill>
                  </a:tcPr>
                </a:tc>
                <a:extLst>
                  <a:ext uri="{0D108BD9-81ED-4DB2-BD59-A6C34878D82A}">
                    <a16:rowId xmlns:a16="http://schemas.microsoft.com/office/drawing/2014/main" val="10001"/>
                  </a:ext>
                </a:extLst>
              </a:tr>
              <a:tr h="381950">
                <a:tc>
                  <a:txBody>
                    <a:bodyPr/>
                    <a:lstStyle/>
                    <a:p>
                      <a:pPr>
                        <a:defRPr sz="800" b="1">
                          <a:solidFill>
                            <a:srgbClr val="BFDED8"/>
                          </a:solidFill>
                          <a:latin typeface="VW Text"/>
                        </a:defRPr>
                      </a:pPr>
                      <a:r>
                        <a:rPr sz="700" b="1">
                          <a:solidFill>
                            <a:srgbClr val="FFFFFF"/>
                          </a:solidFill>
                          <a:latin typeface="VW Text"/>
                        </a:rPr>
                        <a:t>Verified reading</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Trust the LLM's extracted numbers</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Model reads; code checks every figure against the document and drops what it cannot find; ranking in code</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Zero invented totals in 26 comparisons (measured); ≈ 15 s per comparison — the core of the ≈ 2,000 hrs/yr saved</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Comparison working lines</a:t>
                      </a:r>
                      <a:endParaRPr/>
                    </a:p>
                  </a:txBody>
                  <a:tcPr marL="64008" marR="45720" marT="18288" marB="18288">
                    <a:solidFill>
                      <a:srgbClr val="10534F"/>
                    </a:solidFill>
                  </a:tcPr>
                </a:tc>
                <a:extLst>
                  <a:ext uri="{0D108BD9-81ED-4DB2-BD59-A6C34878D82A}">
                    <a16:rowId xmlns:a16="http://schemas.microsoft.com/office/drawing/2014/main" val="10002"/>
                  </a:ext>
                </a:extLst>
              </a:tr>
              <a:tr h="273492">
                <a:tc>
                  <a:txBody>
                    <a:bodyPr/>
                    <a:lstStyle/>
                    <a:p>
                      <a:pPr>
                        <a:defRPr sz="800" b="1">
                          <a:solidFill>
                            <a:srgbClr val="BFDED8"/>
                          </a:solidFill>
                          <a:latin typeface="VW Text"/>
                        </a:defRPr>
                      </a:pPr>
                      <a:r>
                        <a:rPr sz="700" b="1">
                          <a:solidFill>
                            <a:srgbClr val="FFFFFF"/>
                          </a:solidFill>
                          <a:latin typeface="VW Text"/>
                        </a:rPr>
                        <a:t>Recommendation from facts</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Ask the LLM to summarise and suggest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Rules over case facts → one action + reasons; scope gap / tax unstated block the award</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Traceable, identical on every run, no model cost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Next action box</a:t>
                      </a:r>
                      <a:endParaRPr/>
                    </a:p>
                  </a:txBody>
                  <a:tcPr marL="64008" marR="45720" marT="18288" marB="18288">
                    <a:solidFill>
                      <a:srgbClr val="10534F"/>
                    </a:solidFill>
                  </a:tcPr>
                </a:tc>
                <a:extLst>
                  <a:ext uri="{0D108BD9-81ED-4DB2-BD59-A6C34878D82A}">
                    <a16:rowId xmlns:a16="http://schemas.microsoft.com/office/drawing/2014/main" val="1375152895"/>
                  </a:ext>
                </a:extLst>
              </a:tr>
            </a:tbl>
          </a:graphicData>
        </a:graphic>
      </p:graphicFrame>
      <p:sp>
        <p:nvSpPr>
          <p:cNvPr id="7" name="TextBox 6"/>
          <p:cNvSpPr txBox="1"/>
          <p:nvPr/>
        </p:nvSpPr>
        <p:spPr>
          <a:xfrm>
            <a:off x="411480" y="3192224"/>
            <a:ext cx="11365992" cy="256032"/>
          </a:xfrm>
          <a:prstGeom prst="rect">
            <a:avLst/>
          </a:prstGeom>
          <a:noFill/>
        </p:spPr>
        <p:txBody>
          <a:bodyPr wrap="square" lIns="0" tIns="0" rIns="0" bIns="0">
            <a:spAutoFit/>
          </a:bodyPr>
          <a:lstStyle/>
          <a:p>
            <a:pPr algn="l"/>
            <a:r>
              <a:rPr sz="1050" b="1">
                <a:solidFill>
                  <a:srgbClr val="ACE82E"/>
                </a:solidFill>
                <a:latin typeface="VW Text"/>
              </a:rPr>
              <a:t>B · AGENTIC VALUE</a:t>
            </a:r>
          </a:p>
        </p:txBody>
      </p:sp>
      <p:graphicFrame>
        <p:nvGraphicFramePr>
          <p:cNvPr id="8" name="Table 7"/>
          <p:cNvGraphicFramePr>
            <a:graphicFrameLocks noGrp="1"/>
          </p:cNvGraphicFramePr>
          <p:nvPr/>
        </p:nvGraphicFramePr>
        <p:xfrm>
          <a:off x="411480" y="3448256"/>
          <a:ext cx="11365992" cy="821304"/>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679192">
                  <a:extLst>
                    <a:ext uri="{9D8B030D-6E8A-4147-A177-3AD203B41FA5}">
                      <a16:colId xmlns:a16="http://schemas.microsoft.com/office/drawing/2014/main" val="20003"/>
                    </a:ext>
                  </a:extLst>
                </a:gridCol>
              </a:tblGrid>
              <a:tr h="274320">
                <a:tc>
                  <a:txBody>
                    <a:bodyPr/>
                    <a:lstStyle/>
                    <a:p>
                      <a:pPr>
                        <a:defRPr sz="850" b="1">
                          <a:solidFill>
                            <a:srgbClr val="0A3533"/>
                          </a:solidFill>
                          <a:latin typeface="VW Text"/>
                        </a:defRPr>
                      </a:pPr>
                      <a:r>
                        <a:rPr sz="850" b="1">
                          <a:solidFill>
                            <a:srgbClr val="0A3533"/>
                          </a:solidFill>
                          <a:latin typeface="VW Text"/>
                        </a:rPr>
                        <a:t>Agent capability</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Problem it solves</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Why a single LLM call would not be enough</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Benefit demonstrated</a:t>
                      </a:r>
                    </a:p>
                  </a:txBody>
                  <a:tcPr marL="64008" marR="45720" marT="27432" marB="27432">
                    <a:solidFill>
                      <a:srgbClr val="35D6AE"/>
                    </a:solidFill>
                  </a:tcPr>
                </a:tc>
                <a:extLst>
                  <a:ext uri="{0D108BD9-81ED-4DB2-BD59-A6C34878D82A}">
                    <a16:rowId xmlns:a16="http://schemas.microsoft.com/office/drawing/2014/main" val="10000"/>
                  </a:ext>
                </a:extLst>
              </a:tr>
              <a:tr h="273492">
                <a:tc>
                  <a:txBody>
                    <a:bodyPr/>
                    <a:lstStyle/>
                    <a:p>
                      <a:pPr>
                        <a:defRPr sz="800" b="1">
                          <a:solidFill>
                            <a:srgbClr val="BFDED8"/>
                          </a:solidFill>
                          <a:latin typeface="VW Text"/>
                        </a:defRPr>
                      </a:pPr>
                      <a:r>
                        <a:rPr sz="700" b="1">
                          <a:solidFill>
                            <a:srgbClr val="FFFFFF"/>
                          </a:solidFill>
                          <a:latin typeface="VW Text"/>
                        </a:rPr>
                        <a:t>Offer agent: event-driven, multi-step quote handling</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Quotes arrive any time, any format; must be compared on one basis with gaps found</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One call cannot read three files, verify figures, convert currency, check scope and draft a question — nor be trusted with the ranking</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Comparison, chips and drafted clarification ready when the round is opened (demo ≈ 5:30)</a:t>
                      </a:r>
                      <a:endParaRPr/>
                    </a:p>
                  </a:txBody>
                  <a:tcPr marL="64008" marR="45720" marT="18288" marB="18288">
                    <a:solidFill>
                      <a:srgbClr val="125A55"/>
                    </a:solidFill>
                  </a:tcPr>
                </a:tc>
                <a:extLst>
                  <a:ext uri="{0D108BD9-81ED-4DB2-BD59-A6C34878D82A}">
                    <a16:rowId xmlns:a16="http://schemas.microsoft.com/office/drawing/2014/main" val="10001"/>
                  </a:ext>
                </a:extLst>
              </a:tr>
              <a:tr h="273492">
                <a:tc>
                  <a:txBody>
                    <a:bodyPr/>
                    <a:lstStyle/>
                    <a:p>
                      <a:pPr>
                        <a:defRPr sz="800" b="1">
                          <a:solidFill>
                            <a:srgbClr val="BFDED8"/>
                          </a:solidFill>
                          <a:latin typeface="VW Text"/>
                        </a:defRPr>
                      </a:pPr>
                      <a:r>
                        <a:rPr sz="700" b="1">
                          <a:solidFill>
                            <a:srgbClr val="FFFFFF"/>
                          </a:solidFill>
                          <a:latin typeface="VW Text"/>
                        </a:rPr>
                        <a:t>Advisor as an independent validator</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A recommendation must be justified, not a paraphrase of the model's own output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The Advisor recomputes from stored facts and can contradict the Offer agent (scope gap → not ready)</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FC case: 'Not yet — Skillbridge may not cover the requirement'</a:t>
                      </a:r>
                      <a:endParaRPr/>
                    </a:p>
                  </a:txBody>
                  <a:tcPr marL="64008" marR="45720" marT="18288" marB="18288">
                    <a:solidFill>
                      <a:srgbClr val="10534F"/>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411480" y="4426664"/>
            <a:ext cx="11365992" cy="256032"/>
          </a:xfrm>
          <a:prstGeom prst="rect">
            <a:avLst/>
          </a:prstGeom>
          <a:noFill/>
        </p:spPr>
        <p:txBody>
          <a:bodyPr wrap="square" lIns="0" tIns="0" rIns="0" bIns="0">
            <a:spAutoFit/>
          </a:bodyPr>
          <a:lstStyle/>
          <a:p>
            <a:pPr algn="l"/>
            <a:r>
              <a:rPr sz="1050" b="1">
                <a:solidFill>
                  <a:srgbClr val="ACE82E"/>
                </a:solidFill>
                <a:latin typeface="VW Text"/>
              </a:rPr>
              <a:t>C · BEYOND THE HACKATHON BRIEF</a:t>
            </a:r>
          </a:p>
        </p:txBody>
      </p:sp>
      <p:graphicFrame>
        <p:nvGraphicFramePr>
          <p:cNvPr id="10" name="Table 9"/>
          <p:cNvGraphicFramePr>
            <a:graphicFrameLocks noGrp="1"/>
          </p:cNvGraphicFramePr>
          <p:nvPr/>
        </p:nvGraphicFramePr>
        <p:xfrm>
          <a:off x="411480" y="4682696"/>
          <a:ext cx="11365992" cy="1203254"/>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947672">
                  <a:extLst>
                    <a:ext uri="{9D8B030D-6E8A-4147-A177-3AD203B41FA5}">
                      <a16:colId xmlns:a16="http://schemas.microsoft.com/office/drawing/2014/main" val="20004"/>
                    </a:ext>
                  </a:extLst>
                </a:gridCol>
              </a:tblGrid>
              <a:tr h="274320">
                <a:tc>
                  <a:txBody>
                    <a:bodyPr/>
                    <a:lstStyle/>
                    <a:p>
                      <a:pPr>
                        <a:defRPr sz="850" b="1">
                          <a:solidFill>
                            <a:srgbClr val="0A3533"/>
                          </a:solidFill>
                          <a:latin typeface="VW Text"/>
                        </a:defRPr>
                      </a:pPr>
                      <a:r>
                        <a:rPr sz="850" b="1">
                          <a:solidFill>
                            <a:srgbClr val="0A3533"/>
                          </a:solidFill>
                          <a:latin typeface="VW Text"/>
                        </a:rPr>
                        <a:t>Additional capability</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Why it is beyond scope</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Value created</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Status</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Where to see it</a:t>
                      </a:r>
                    </a:p>
                  </a:txBody>
                  <a:tcPr marL="64008" marR="45720" marT="27432" marB="27432">
                    <a:solidFill>
                      <a:srgbClr val="35D6AE"/>
                    </a:solidFill>
                  </a:tcPr>
                </a:tc>
                <a:extLst>
                  <a:ext uri="{0D108BD9-81ED-4DB2-BD59-A6C34878D82A}">
                    <a16:rowId xmlns:a16="http://schemas.microsoft.com/office/drawing/2014/main" val="10000"/>
                  </a:ext>
                </a:extLst>
              </a:tr>
              <a:tr h="273492">
                <a:tc>
                  <a:txBody>
                    <a:bodyPr/>
                    <a:lstStyle/>
                    <a:p>
                      <a:pPr>
                        <a:defRPr sz="800" b="1">
                          <a:solidFill>
                            <a:srgbClr val="BFDED8"/>
                          </a:solidFill>
                          <a:latin typeface="VW Text"/>
                        </a:defRPr>
                      </a:pPr>
                      <a:r>
                        <a:rPr sz="700" b="1">
                          <a:solidFill>
                            <a:srgbClr val="FFFFFF"/>
                          </a:solidFill>
                          <a:latin typeface="VW Text"/>
                        </a:rPr>
                        <a:t>Automatic quotation check on arrival + drafted clarification email</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Guide excludes two-way supplier communication</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Missing terms / validity / lead time asked for before they block the award; a person sends</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25A55"/>
                    </a:solidFill>
                  </a:tcPr>
                </a:tc>
                <a:tc>
                  <a:txBody>
                    <a:bodyPr/>
                    <a:lstStyle/>
                    <a:p>
                      <a:pPr>
                        <a:defRPr sz="800">
                          <a:solidFill>
                            <a:srgbClr val="FFFFFF"/>
                          </a:solidFill>
                          <a:latin typeface="VW Text"/>
                        </a:defRPr>
                      </a:pPr>
                      <a:r>
                        <a:rPr sz="700" b="0">
                          <a:solidFill>
                            <a:srgbClr val="FFFFFF"/>
                          </a:solidFill>
                          <a:latin typeface="VW Text"/>
                        </a:rPr>
                        <a:t>Round page</a:t>
                      </a:r>
                      <a:endParaRPr/>
                    </a:p>
                  </a:txBody>
                  <a:tcPr marL="64008" marR="45720" marT="18288" marB="18288">
                    <a:solidFill>
                      <a:srgbClr val="125A55"/>
                    </a:solidFill>
                  </a:tcPr>
                </a:tc>
                <a:extLst>
                  <a:ext uri="{0D108BD9-81ED-4DB2-BD59-A6C34878D82A}">
                    <a16:rowId xmlns:a16="http://schemas.microsoft.com/office/drawing/2014/main" val="10001"/>
                  </a:ext>
                </a:extLst>
              </a:tr>
              <a:tr h="381950">
                <a:tc>
                  <a:txBody>
                    <a:bodyPr/>
                    <a:lstStyle/>
                    <a:p>
                      <a:pPr>
                        <a:defRPr sz="800" b="1">
                          <a:solidFill>
                            <a:srgbClr val="BFDED8"/>
                          </a:solidFill>
                          <a:latin typeface="VW Text"/>
                        </a:defRPr>
                      </a:pPr>
                      <a:r>
                        <a:rPr sz="700" b="1">
                          <a:solidFill>
                            <a:srgbClr val="FFFFFF"/>
                          </a:solidFill>
                          <a:latin typeface="VW Text"/>
                        </a:rPr>
                        <a:t>Buyer auto-allocation by commodity · TAT clock 15/30 WD · 'Ask this case' · Excel export with charts · Graph mailbox intake</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Not in either brief</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Right buyer, committed dates by rule, answers from the case's documents, reports in GP's format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Built</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Case page; dashboards</a:t>
                      </a:r>
                      <a:endParaRPr/>
                    </a:p>
                  </a:txBody>
                  <a:tcPr marL="64008" marR="45720" marT="18288" marB="18288">
                    <a:solidFill>
                      <a:srgbClr val="10534F"/>
                    </a:solidFill>
                  </a:tcPr>
                </a:tc>
                <a:extLst>
                  <a:ext uri="{0D108BD9-81ED-4DB2-BD59-A6C34878D82A}">
                    <a16:rowId xmlns:a16="http://schemas.microsoft.com/office/drawing/2014/main" val="10002"/>
                  </a:ext>
                </a:extLst>
              </a:tr>
              <a:tr h="273492">
                <a:tc>
                  <a:txBody>
                    <a:bodyPr/>
                    <a:lstStyle/>
                    <a:p>
                      <a:pPr>
                        <a:defRPr sz="800" b="1">
                          <a:solidFill>
                            <a:srgbClr val="BFDED8"/>
                          </a:solidFill>
                          <a:latin typeface="VW Text"/>
                        </a:defRPr>
                      </a:pPr>
                      <a:r>
                        <a:rPr sz="700" b="1">
                          <a:solidFill>
                            <a:srgbClr val="FFFFFF"/>
                          </a:solidFill>
                          <a:latin typeface="VW Text"/>
                        </a:rPr>
                        <a:t>AI price benchmarking · supplier scoring · negotiation talking points</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Beyond the hackathon window</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Quote vs past cases and market indices; outliers flagged; negotiation points drafted for the buyer</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Proposed</a:t>
                      </a:r>
                      <a:endParaRPr/>
                    </a:p>
                  </a:txBody>
                  <a:tcPr marL="64008" marR="45720" marT="18288" marB="18288">
                    <a:solidFill>
                      <a:srgbClr val="10534F"/>
                    </a:solidFill>
                  </a:tcPr>
                </a:tc>
                <a:tc>
                  <a:txBody>
                    <a:bodyPr/>
                    <a:lstStyle/>
                    <a:p>
                      <a:pPr>
                        <a:defRPr sz="800">
                          <a:solidFill>
                            <a:srgbClr val="FFFFFF"/>
                          </a:solidFill>
                          <a:latin typeface="VW Text"/>
                        </a:defRPr>
                      </a:pPr>
                      <a:r>
                        <a:rPr sz="700" b="0">
                          <a:solidFill>
                            <a:srgbClr val="FFFFFF"/>
                          </a:solidFill>
                          <a:latin typeface="VW Text"/>
                        </a:rPr>
                        <a:t>Roadmap (slide 8)</a:t>
                      </a:r>
                      <a:endParaRPr/>
                    </a:p>
                  </a:txBody>
                  <a:tcPr marL="64008" marR="45720" marT="18288" marB="18288">
                    <a:solidFill>
                      <a:srgbClr val="10534F"/>
                    </a:solidFill>
                  </a:tcPr>
                </a:tc>
                <a:extLst>
                  <a:ext uri="{0D108BD9-81ED-4DB2-BD59-A6C34878D82A}">
                    <a16:rowId xmlns:a16="http://schemas.microsoft.com/office/drawing/2014/main" val="3858719436"/>
                  </a:ext>
                </a:extLst>
              </a:tr>
            </a:tbl>
          </a:graphicData>
        </a:graphic>
      </p:graphicFrame>
      <p:sp>
        <p:nvSpPr>
          <p:cNvPr id="11" name="Rectangle 10"/>
          <p:cNvSpPr/>
          <p:nvPr/>
        </p:nvSpPr>
        <p:spPr>
          <a:xfrm>
            <a:off x="411480" y="5955950"/>
            <a:ext cx="11365992" cy="658368"/>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spcBef>
                <a:spcPts val="0"/>
              </a:spcBef>
              <a:spcAft>
                <a:spcPts val="100"/>
              </a:spcAft>
            </a:pPr>
            <a:r>
              <a:rPr sz="850" b="0">
                <a:solidFill>
                  <a:srgbClr val="FFFFFF"/>
                </a:solidFill>
                <a:latin typeface="VW Text"/>
              </a:rPr>
              <a:t>“The use of AI agents improves our solution by reading every quotation the moment it arrives, comparing it on one basis and telling the buyer what is missing and what to do next. Without the agentic approach, the user would have to open each PDF, rebuild the comparison in Excel, spot gaps by eye and write the supplier emails — ≈ 2 hrs per buyer per day, ≈ 2,000 hrs a year (estimated). This is shown in the demo video at ≈ 5:30 – 7:30.”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7 · Validation, Results &amp; Business Value</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Please label every number: measured, estimated, assumed, or a pilot target.</a:t>
            </a:r>
          </a:p>
        </p:txBody>
      </p:sp>
      <p:sp>
        <p:nvSpPr>
          <p:cNvPr id="5" name="TextBox 4"/>
          <p:cNvSpPr txBox="1"/>
          <p:nvPr/>
        </p:nvSpPr>
        <p:spPr>
          <a:xfrm>
            <a:off x="411480" y="1554480"/>
            <a:ext cx="6949440" cy="256032"/>
          </a:xfrm>
          <a:prstGeom prst="rect">
            <a:avLst/>
          </a:prstGeom>
          <a:noFill/>
        </p:spPr>
        <p:txBody>
          <a:bodyPr wrap="square" lIns="0" tIns="0" rIns="0" bIns="0">
            <a:spAutoFit/>
          </a:bodyPr>
          <a:lstStyle/>
          <a:p>
            <a:pPr algn="l"/>
            <a:r>
              <a:rPr sz="1100" b="1">
                <a:solidFill>
                  <a:srgbClr val="ACE82E"/>
                </a:solidFill>
                <a:latin typeface="VW Text"/>
              </a:rPr>
              <a:t>TEST EVIDENCE</a:t>
            </a:r>
          </a:p>
        </p:txBody>
      </p:sp>
      <p:graphicFrame>
        <p:nvGraphicFramePr>
          <p:cNvPr id="6" name="Table 5"/>
          <p:cNvGraphicFramePr>
            <a:graphicFrameLocks noGrp="1"/>
          </p:cNvGraphicFramePr>
          <p:nvPr/>
        </p:nvGraphicFramePr>
        <p:xfrm>
          <a:off x="411480" y="1810512"/>
          <a:ext cx="6949440" cy="2476109"/>
        </p:xfrm>
        <a:graphic>
          <a:graphicData uri="http://schemas.openxmlformats.org/drawingml/2006/table">
            <a:tbl>
              <a:tblPr firstRow="1" bandRow="1">
                <a:tableStyleId>{5C22544A-7EE6-4342-B048-85BDC9FD1C3A}</a:tableStyleId>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274320">
                <a:tc>
                  <a:txBody>
                    <a:bodyPr/>
                    <a:lstStyle/>
                    <a:p>
                      <a:pPr>
                        <a:defRPr sz="850" b="1">
                          <a:solidFill>
                            <a:srgbClr val="0A3533"/>
                          </a:solidFill>
                          <a:latin typeface="VW Text"/>
                        </a:defRPr>
                      </a:pPr>
                      <a:r>
                        <a:rPr sz="850" b="1">
                          <a:solidFill>
                            <a:srgbClr val="0A3533"/>
                          </a:solidFill>
                          <a:latin typeface="VW Text"/>
                        </a:rPr>
                        <a:t>Test scenario</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Expected result</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Actual result</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Pass / Partial / Fail</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Where to see it</a:t>
                      </a:r>
                    </a:p>
                  </a:txBody>
                  <a:tcPr marL="64008" marR="45720" marT="27432" marB="27432">
                    <a:solidFill>
                      <a:srgbClr val="35D6AE"/>
                    </a:solidFill>
                  </a:tcPr>
                </a:tc>
                <a:extLst>
                  <a:ext uri="{0D108BD9-81ED-4DB2-BD59-A6C34878D82A}">
                    <a16:rowId xmlns:a16="http://schemas.microsoft.com/office/drawing/2014/main" val="10000"/>
                  </a:ext>
                </a:extLst>
              </a:tr>
              <a:tr h="521396">
                <a:tc>
                  <a:txBody>
                    <a:bodyPr/>
                    <a:lstStyle/>
                    <a:p>
                      <a:pPr>
                        <a:defRPr sz="800" b="1">
                          <a:solidFill>
                            <a:srgbClr val="BFDED8"/>
                          </a:solidFill>
                          <a:latin typeface="VW Text"/>
                        </a:defRPr>
                      </a:pPr>
                      <a:r>
                        <a:rPr sz="750" b="1">
                          <a:solidFill>
                            <a:srgbClr val="FFFFFF"/>
                          </a:solidFill>
                          <a:latin typeface="VW Text"/>
                        </a:rPr>
                        <a:t>Gross vs net quotes (SF-2026-00005, both EUR)</a:t>
                      </a: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Tax stripped; Alpsteel €25,000 incl. 19 % → €21,008 ranked 1st over Nordlink €22,000 net</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As expected; working printed; item check ✓ both</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Pass</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Comparison on SF-2026-00005</a:t>
                      </a:r>
                      <a:endParaRPr/>
                    </a:p>
                  </a:txBody>
                  <a:tcPr marL="64008" marR="45720" marT="18288" marB="18288">
                    <a:solidFill>
                      <a:srgbClr val="125A55"/>
                    </a:solidFill>
                  </a:tcPr>
                </a:tc>
                <a:extLst>
                  <a:ext uri="{0D108BD9-81ED-4DB2-BD59-A6C34878D82A}">
                    <a16:rowId xmlns:a16="http://schemas.microsoft.com/office/drawing/2014/main" val="10001"/>
                  </a:ext>
                </a:extLst>
              </a:tr>
              <a:tr h="521396">
                <a:tc>
                  <a:txBody>
                    <a:bodyPr/>
                    <a:lstStyle/>
                    <a:p>
                      <a:pPr>
                        <a:defRPr sz="800" b="1">
                          <a:solidFill>
                            <a:srgbClr val="BFDED8"/>
                          </a:solidFill>
                          <a:latin typeface="VW Text"/>
                        </a:defRPr>
                      </a:pPr>
                      <a:r>
                        <a:rPr sz="750" b="1">
                          <a:solidFill>
                            <a:srgbClr val="FFFFFF"/>
                          </a:solidFill>
                          <a:latin typeface="VW Text"/>
                        </a:rPr>
                        <a:t>Three currencies (EUR / GBP / USD event-branding quotes)</a:t>
                      </a: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All converted to EUR at reference rates and ranked on net</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BrightFrame €2,520 &lt; UrbanVista €2,550.60 &lt; NorthStar €2,806; currency verified via symbol</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Pass</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Comparison on the event-branding case</a:t>
                      </a:r>
                      <a:endParaRPr/>
                    </a:p>
                  </a:txBody>
                  <a:tcPr marL="64008" marR="45720" marT="18288" marB="18288">
                    <a:solidFill>
                      <a:srgbClr val="10534F"/>
                    </a:solidFill>
                  </a:tcPr>
                </a:tc>
                <a:extLst>
                  <a:ext uri="{0D108BD9-81ED-4DB2-BD59-A6C34878D82A}">
                    <a16:rowId xmlns:a16="http://schemas.microsoft.com/office/drawing/2014/main" val="10002"/>
                  </a:ext>
                </a:extLst>
              </a:tr>
              <a:tr h="521396">
                <a:tc>
                  <a:txBody>
                    <a:bodyPr/>
                    <a:lstStyle/>
                    <a:p>
                      <a:pPr>
                        <a:defRPr sz="800" b="1">
                          <a:solidFill>
                            <a:srgbClr val="BFDED8"/>
                          </a:solidFill>
                          <a:latin typeface="VW Text"/>
                        </a:defRPr>
                      </a:pPr>
                      <a:r>
                        <a:rPr sz="750" b="1">
                          <a:solidFill>
                            <a:srgbClr val="FFFFFF"/>
                          </a:solidFill>
                          <a:latin typeface="VW Text"/>
                        </a:rPr>
                        <a:t>Quotation with missing fields (round RFQ-20260918-3626, HP)</a:t>
                      </a: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Missing payment terms / validity / lead time flagged; clarification drafted, not sent</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Chips 'Missing: payment terms, validity, delivery lead time' + draft ready</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Pass</a:t>
                      </a:r>
                      <a:endParaRPr/>
                    </a:p>
                  </a:txBody>
                  <a:tcPr marL="64008" marR="45720" marT="18288" marB="18288">
                    <a:solidFill>
                      <a:srgbClr val="125A55"/>
                    </a:solidFill>
                  </a:tcPr>
                </a:tc>
                <a:tc>
                  <a:txBody>
                    <a:bodyPr/>
                    <a:lstStyle/>
                    <a:p>
                      <a:pPr>
                        <a:defRPr sz="800">
                          <a:solidFill>
                            <a:srgbClr val="FFFFFF"/>
                          </a:solidFill>
                          <a:latin typeface="VW Text"/>
                        </a:defRPr>
                      </a:pPr>
                      <a:r>
                        <a:rPr sz="750" b="0">
                          <a:solidFill>
                            <a:srgbClr val="FFFFFF"/>
                          </a:solidFill>
                          <a:latin typeface="VW Text"/>
                        </a:rPr>
                        <a:t>Round page</a:t>
                      </a:r>
                      <a:endParaRPr/>
                    </a:p>
                  </a:txBody>
                  <a:tcPr marL="64008" marR="45720" marT="18288" marB="18288">
                    <a:solidFill>
                      <a:srgbClr val="125A55"/>
                    </a:solidFill>
                  </a:tcPr>
                </a:tc>
                <a:extLst>
                  <a:ext uri="{0D108BD9-81ED-4DB2-BD59-A6C34878D82A}">
                    <a16:rowId xmlns:a16="http://schemas.microsoft.com/office/drawing/2014/main" val="10003"/>
                  </a:ext>
                </a:extLst>
              </a:tr>
              <a:tr h="637601">
                <a:tc>
                  <a:txBody>
                    <a:bodyPr/>
                    <a:lstStyle/>
                    <a:p>
                      <a:pPr>
                        <a:defRPr sz="800" b="1">
                          <a:solidFill>
                            <a:srgbClr val="BFDED8"/>
                          </a:solidFill>
                          <a:latin typeface="VW Text"/>
                        </a:defRPr>
                      </a:pPr>
                      <a:r>
                        <a:rPr sz="750" b="1">
                          <a:solidFill>
                            <a:srgbClr val="FFFFFF"/>
                          </a:solidFill>
                          <a:latin typeface="VW Text"/>
                        </a:rPr>
                        <a:t>Edge: quote does not cover scope (FC-2026-00017, no cart) · frame contract without cart · revised quote v2</a:t>
                      </a: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Scope gap blocks award; no false 'cart not read' alert; v2 replaces v1</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Advisor: 'Resolve open points… may not cover the requirement'; Ready to award: Not yet; v1 kept on record</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Pass</a:t>
                      </a:r>
                      <a:endParaRPr/>
                    </a:p>
                  </a:txBody>
                  <a:tcPr marL="64008" marR="45720" marT="18288" marB="18288">
                    <a:solidFill>
                      <a:srgbClr val="10534F"/>
                    </a:solidFill>
                  </a:tcPr>
                </a:tc>
                <a:tc>
                  <a:txBody>
                    <a:bodyPr/>
                    <a:lstStyle/>
                    <a:p>
                      <a:pPr>
                        <a:defRPr sz="800">
                          <a:solidFill>
                            <a:srgbClr val="FFFFFF"/>
                          </a:solidFill>
                          <a:latin typeface="VW Text"/>
                        </a:defRPr>
                      </a:pPr>
                      <a:r>
                        <a:rPr sz="750" b="0">
                          <a:solidFill>
                            <a:srgbClr val="FFFFFF"/>
                          </a:solidFill>
                          <a:latin typeface="VW Text"/>
                        </a:rPr>
                        <a:t>FC-2026-00017; round versions</a:t>
                      </a:r>
                      <a:endParaRPr/>
                    </a:p>
                  </a:txBody>
                  <a:tcPr marL="64008" marR="45720" marT="18288" marB="18288">
                    <a:solidFill>
                      <a:srgbClr val="10534F"/>
                    </a:solidFill>
                  </a:tcPr>
                </a:tc>
                <a:extLst>
                  <a:ext uri="{0D108BD9-81ED-4DB2-BD59-A6C34878D82A}">
                    <a16:rowId xmlns:a16="http://schemas.microsoft.com/office/drawing/2014/main" val="10004"/>
                  </a:ext>
                </a:extLst>
              </a:tr>
            </a:tbl>
          </a:graphicData>
        </a:graphic>
      </p:graphicFrame>
      <p:sp>
        <p:nvSpPr>
          <p:cNvPr id="7" name="Rectangle 6"/>
          <p:cNvSpPr/>
          <p:nvPr/>
        </p:nvSpPr>
        <p:spPr>
          <a:xfrm>
            <a:off x="7498079" y="1810512"/>
            <a:ext cx="4279392" cy="192024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ALSO REPORT</a:t>
            </a:r>
          </a:p>
          <a:p>
            <a:pPr>
              <a:spcBef>
                <a:spcPts val="0"/>
              </a:spcBef>
              <a:spcAft>
                <a:spcPts val="100"/>
              </a:spcAft>
            </a:pPr>
            <a:r>
              <a:rPr sz="850" b="1">
                <a:solidFill>
                  <a:srgbClr val="FFFFFF"/>
                </a:solidFill>
                <a:latin typeface="VW Text"/>
              </a:rPr>
              <a:t>Number and type of scenarios tested:</a:t>
            </a:r>
          </a:p>
          <a:p>
            <a:pPr>
              <a:spcBef>
                <a:spcPts val="0"/>
              </a:spcBef>
              <a:spcAft>
                <a:spcPts val="100"/>
              </a:spcAft>
            </a:pPr>
            <a:r>
              <a:rPr sz="850" b="0">
                <a:solidFill>
                  <a:srgbClr val="FFFFFF"/>
                </a:solidFill>
                <a:latin typeface="VW Text"/>
              </a:rPr>
              <a:t>36 synthetic cases, 26 with comparisons: gross vs net, 3 currencies, single bidder, missing fields, revised quote, scope gap, frame contract without cart, partial cart parse, email intake, overdue supplier (measured).</a:t>
            </a:r>
          </a:p>
          <a:p>
            <a:pPr>
              <a:spcBef>
                <a:spcPts val="0"/>
              </a:spcBef>
              <a:spcAft>
                <a:spcPts val="100"/>
              </a:spcAft>
            </a:pPr>
            <a:r>
              <a:rPr sz="850" b="1">
                <a:solidFill>
                  <a:srgbClr val="FFFFFF"/>
                </a:solidFill>
                <a:latin typeface="VW Text"/>
              </a:rPr>
              <a:t>Cases that failed or returned an incorrect output:</a:t>
            </a:r>
          </a:p>
          <a:p>
            <a:pPr>
              <a:spcBef>
                <a:spcPts val="0"/>
              </a:spcBef>
              <a:spcAft>
                <a:spcPts val="100"/>
              </a:spcAft>
            </a:pPr>
            <a:r>
              <a:rPr sz="850" b="0">
                <a:solidFill>
                  <a:srgbClr val="FFFFFF"/>
                </a:solidFill>
                <a:latin typeface="VW Text"/>
              </a:rPr>
              <a:t>With the local 7B model, totals were occasionally invented and a ranking claim was wrong (8,800 'below' 8,500). Fixed by verifying figures in code and moving ranking out of the model; not reproduced on gpt-4o.</a:t>
            </a:r>
          </a:p>
          <a:p>
            <a:pPr>
              <a:spcBef>
                <a:spcPts val="0"/>
              </a:spcBef>
              <a:spcAft>
                <a:spcPts val="100"/>
              </a:spcAft>
            </a:pPr>
            <a:r>
              <a:rPr sz="850" b="1">
                <a:solidFill>
                  <a:srgbClr val="FFFFFF"/>
                </a:solidFill>
                <a:latin typeface="VW Text"/>
              </a:rPr>
              <a:t>One known quality limitation:</a:t>
            </a:r>
          </a:p>
          <a:p>
            <a:pPr>
              <a:spcBef>
                <a:spcPts val="0"/>
              </a:spcBef>
              <a:spcAft>
                <a:spcPts val="100"/>
              </a:spcAft>
            </a:pPr>
            <a:r>
              <a:rPr sz="850" b="0">
                <a:solidFill>
                  <a:srgbClr val="FFFFFF"/>
                </a:solidFill>
                <a:latin typeface="VW Text"/>
              </a:rPr>
              <a:t>Rate-card quotations with no single total are marked 'could not be put on a comparable basis' rather than compared.</a:t>
            </a:r>
          </a:p>
        </p:txBody>
      </p:sp>
      <p:sp>
        <p:nvSpPr>
          <p:cNvPr id="8" name="Rectangle 7"/>
          <p:cNvSpPr/>
          <p:nvPr/>
        </p:nvSpPr>
        <p:spPr>
          <a:xfrm>
            <a:off x="411480" y="4386621"/>
            <a:ext cx="6949440" cy="201168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USER &amp; BUSINESS VALUE</a:t>
            </a:r>
          </a:p>
          <a:p>
            <a:pPr>
              <a:spcBef>
                <a:spcPts val="0"/>
              </a:spcBef>
              <a:spcAft>
                <a:spcPts val="200"/>
              </a:spcAft>
            </a:pPr>
            <a:r>
              <a:rPr sz="800" b="1">
                <a:solidFill>
                  <a:srgbClr val="ACE82E"/>
                </a:solidFill>
                <a:latin typeface="VW Text"/>
              </a:rPr>
              <a:t>Specific target user:</a:t>
            </a:r>
          </a:p>
          <a:p>
            <a:pPr>
              <a:spcBef>
                <a:spcPts val="0"/>
              </a:spcBef>
              <a:spcAft>
                <a:spcPts val="100"/>
              </a:spcAft>
            </a:pPr>
            <a:r>
              <a:rPr sz="800" b="0">
                <a:solidFill>
                  <a:srgbClr val="FFFFFF"/>
                </a:solidFill>
                <a:latin typeface="VW Text"/>
              </a:rPr>
              <a:t>The 4-person GP team at VWGDS India (sub-₹40 lakh sourcing), their requesters and procurement leadership; then every VW Group department and site running the same process.</a:t>
            </a:r>
          </a:p>
          <a:p>
            <a:pPr>
              <a:spcBef>
                <a:spcPts val="300"/>
              </a:spcBef>
              <a:spcAft>
                <a:spcPts val="200"/>
              </a:spcAft>
            </a:pPr>
            <a:r>
              <a:rPr sz="800" b="1">
                <a:solidFill>
                  <a:srgbClr val="ACE82E"/>
                </a:solidFill>
                <a:latin typeface="VW Text"/>
              </a:rPr>
              <a:t>Current pain / baseline:</a:t>
            </a:r>
          </a:p>
          <a:p>
            <a:pPr>
              <a:spcBef>
                <a:spcPts val="0"/>
              </a:spcBef>
              <a:spcAft>
                <a:spcPts val="100"/>
              </a:spcAft>
            </a:pPr>
            <a:r>
              <a:rPr sz="800" b="0">
                <a:solidFill>
                  <a:srgbClr val="FFFFFF"/>
                </a:solidFill>
                <a:latin typeface="VW Text"/>
              </a:rPr>
              <a:t>≈ 2 hrs per person per day reading, classifying and re-typing RFQs, quotations and SFOs and rebuilding comparisons in Excel ≈ 2,000 hrs/yr for the team (estimated, validated with the stakeholder). Gaps found after handover; audit trail in inboxes.</a:t>
            </a:r>
          </a:p>
          <a:p>
            <a:pPr>
              <a:spcBef>
                <a:spcPts val="300"/>
              </a:spcBef>
              <a:spcAft>
                <a:spcPts val="200"/>
              </a:spcAft>
            </a:pPr>
            <a:r>
              <a:rPr sz="800" b="1">
                <a:solidFill>
                  <a:srgbClr val="ACE82E"/>
                </a:solidFill>
                <a:latin typeface="VW Text"/>
              </a:rPr>
              <a:t>Improvement your solution delivers:</a:t>
            </a:r>
          </a:p>
          <a:p>
            <a:pPr>
              <a:spcBef>
                <a:spcPts val="0"/>
              </a:spcBef>
              <a:spcAft>
                <a:spcPts val="100"/>
              </a:spcAft>
            </a:pPr>
            <a:r>
              <a:rPr sz="800" b="0">
                <a:solidFill>
                  <a:srgbClr val="FFFFFF"/>
                </a:solidFill>
                <a:latin typeface="VW Text"/>
              </a:rPr>
              <a:t>Intake typed and parsed in &lt; 1 min; comparison, gaps and a drafted clarification in ≈ 15 s per round (measured); every case on a 15/30-working-day TAT clock with a next action; audit trail by construction. ≈ 1 FTE returned without hiring (estimated).</a:t>
            </a:r>
          </a:p>
          <a:p>
            <a:pPr>
              <a:spcBef>
                <a:spcPts val="300"/>
              </a:spcBef>
              <a:spcAft>
                <a:spcPts val="200"/>
              </a:spcAft>
            </a:pPr>
            <a:r>
              <a:rPr sz="800" b="1">
                <a:solidFill>
                  <a:srgbClr val="ACE82E"/>
                </a:solidFill>
                <a:latin typeface="VW Text"/>
              </a:rPr>
              <a:t>One measurable success metric:</a:t>
            </a:r>
          </a:p>
          <a:p>
            <a:pPr>
              <a:spcBef>
                <a:spcPts val="0"/>
              </a:spcBef>
              <a:spcAft>
                <a:spcPts val="100"/>
              </a:spcAft>
            </a:pPr>
            <a:r>
              <a:rPr sz="800" b="0">
                <a:solidFill>
                  <a:srgbClr val="FFFFFF"/>
                </a:solidFill>
                <a:latin typeface="VW Text"/>
              </a:rPr>
              <a:t>Manual hours addressed / FTE equivalent (pilot target ≈ 1 FTE) · % cases clean at first comparison (target ≥ 70 %) · TAT adherence · audit-trail coverage (target 100 %).</a:t>
            </a:r>
          </a:p>
        </p:txBody>
      </p:sp>
      <p:sp>
        <p:nvSpPr>
          <p:cNvPr id="9" name="Rectangle 8"/>
          <p:cNvSpPr/>
          <p:nvPr/>
        </p:nvSpPr>
        <p:spPr>
          <a:xfrm>
            <a:off x="7498079" y="3886200"/>
            <a:ext cx="4279392" cy="201168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LABEL EVERY VALUE — TICK ONE PER METRIC</a:t>
            </a:r>
          </a:p>
          <a:p>
            <a:pPr>
              <a:spcBef>
                <a:spcPts val="0"/>
              </a:spcBef>
              <a:spcAft>
                <a:spcPts val="100"/>
              </a:spcAft>
            </a:pPr>
            <a:r>
              <a:rPr sz="900" b="0">
                <a:solidFill>
                  <a:srgbClr val="FFFFFF"/>
                </a:solidFill>
                <a:latin typeface="VW Text"/>
              </a:rPr>
              <a:t>☑  Measured during the prototype — comparison ≈ 15 s, intake &lt; 1 min, scenarios passed, zero invented totals</a:t>
            </a:r>
          </a:p>
          <a:p>
            <a:pPr>
              <a:spcBef>
                <a:spcPts val="0"/>
              </a:spcBef>
              <a:spcAft>
                <a:spcPts val="100"/>
              </a:spcAft>
            </a:pPr>
            <a:r>
              <a:rPr sz="900" b="0">
                <a:solidFill>
                  <a:srgbClr val="FFFFFF"/>
                </a:solidFill>
                <a:latin typeface="VW Text"/>
              </a:rPr>
              <a:t>☑  Estimated — ≈ 2,000 hrs/yr ≈ 1 FTE returned (2 hrs × 4 people × ~250 days, validated with the stakeholder)</a:t>
            </a:r>
          </a:p>
          <a:p>
            <a:pPr>
              <a:spcBef>
                <a:spcPts val="0"/>
              </a:spcBef>
              <a:spcAft>
                <a:spcPts val="100"/>
              </a:spcAft>
            </a:pPr>
            <a:r>
              <a:rPr sz="900" b="0">
                <a:solidFill>
                  <a:srgbClr val="FFFFFF"/>
                </a:solidFill>
                <a:latin typeface="VW Text"/>
              </a:rPr>
              <a:t>☑  Assumed — working-day calendar and reference FX rates</a:t>
            </a:r>
          </a:p>
          <a:p>
            <a:pPr>
              <a:spcBef>
                <a:spcPts val="0"/>
              </a:spcBef>
              <a:spcAft>
                <a:spcPts val="100"/>
              </a:spcAft>
            </a:pPr>
            <a:r>
              <a:rPr sz="900" b="0">
                <a:solidFill>
                  <a:srgbClr val="FFFFFF"/>
                </a:solidFill>
                <a:latin typeface="VW Text"/>
              </a:rPr>
              <a:t>☑  Target for a pilot — ≥ 70 % cases clean at first comparison; 100 % audit-trail coverage</a:t>
            </a:r>
          </a:p>
          <a:p>
            <a:pPr>
              <a:spcBef>
                <a:spcPts val="0"/>
              </a:spcBef>
              <a:spcAft>
                <a:spcPts val="100"/>
              </a:spcAft>
            </a:pPr>
            <a:r>
              <a:rPr sz="900" b="0">
                <a:solidFill>
                  <a:srgbClr val="FFFFFF"/>
                </a:solidFill>
                <a:latin typeface="VW Text"/>
              </a:rPr>
              <a:t>Adoption risk low: human-in-the-loop by design, approved VW tools only (Group LLMaaS), no new licences for the MVP — payback begins with the pilot.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496" y="475488"/>
            <a:ext cx="8321040" cy="658368"/>
          </a:xfrm>
          <a:prstGeom prst="rect">
            <a:avLst/>
          </a:prstGeom>
          <a:noFill/>
        </p:spPr>
        <p:txBody>
          <a:bodyPr wrap="square" lIns="0" tIns="0">
            <a:spAutoFit/>
          </a:bodyPr>
          <a:lstStyle/>
          <a:p>
            <a:r>
              <a:rPr sz="2400" b="1">
                <a:solidFill>
                  <a:srgbClr val="FFFFFF"/>
                </a:solidFill>
                <a:latin typeface="VW Head"/>
              </a:rPr>
              <a:t>8 · Completion Status, Limitations &amp; Next Steps</a:t>
            </a:r>
          </a:p>
        </p:txBody>
      </p:sp>
      <p:sp>
        <p:nvSpPr>
          <p:cNvPr id="3" name="Rectangle 2"/>
          <p:cNvSpPr/>
          <p:nvPr/>
        </p:nvSpPr>
        <p:spPr>
          <a:xfrm>
            <a:off x="548640" y="1106424"/>
            <a:ext cx="1828800" cy="50292"/>
          </a:xfrm>
          <a:prstGeom prst="rect">
            <a:avLst/>
          </a:prstGeom>
          <a:solidFill>
            <a:srgbClr val="ACE8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39496" y="1188720"/>
            <a:ext cx="11155680" cy="292608"/>
          </a:xfrm>
          <a:prstGeom prst="rect">
            <a:avLst/>
          </a:prstGeom>
          <a:noFill/>
        </p:spPr>
        <p:txBody>
          <a:bodyPr wrap="square" lIns="0" tIns="0">
            <a:spAutoFit/>
          </a:bodyPr>
          <a:lstStyle/>
          <a:p>
            <a:r>
              <a:rPr sz="1100" i="1">
                <a:solidFill>
                  <a:srgbClr val="BFDED8"/>
                </a:solidFill>
                <a:latin typeface="VW Text"/>
              </a:rPr>
              <a:t>A clear view of what is finished, what is pending, and where the solution can go next.</a:t>
            </a:r>
          </a:p>
        </p:txBody>
      </p:sp>
      <p:sp>
        <p:nvSpPr>
          <p:cNvPr id="5" name="TextBox 4"/>
          <p:cNvSpPr txBox="1"/>
          <p:nvPr/>
        </p:nvSpPr>
        <p:spPr>
          <a:xfrm>
            <a:off x="411480" y="1554480"/>
            <a:ext cx="5623560" cy="256032"/>
          </a:xfrm>
          <a:prstGeom prst="rect">
            <a:avLst/>
          </a:prstGeom>
          <a:noFill/>
        </p:spPr>
        <p:txBody>
          <a:bodyPr wrap="square" lIns="0" tIns="0" rIns="0" bIns="0">
            <a:spAutoFit/>
          </a:bodyPr>
          <a:lstStyle/>
          <a:p>
            <a:pPr algn="l"/>
            <a:r>
              <a:rPr sz="1100" b="1">
                <a:solidFill>
                  <a:srgbClr val="ACE82E"/>
                </a:solidFill>
                <a:latin typeface="VW Text"/>
              </a:rPr>
              <a:t>COMPLETION DECLARATION</a:t>
            </a:r>
          </a:p>
        </p:txBody>
      </p:sp>
      <p:graphicFrame>
        <p:nvGraphicFramePr>
          <p:cNvPr id="6" name="Table 5"/>
          <p:cNvGraphicFramePr>
            <a:graphicFrameLocks noGrp="1"/>
          </p:cNvGraphicFramePr>
          <p:nvPr/>
        </p:nvGraphicFramePr>
        <p:xfrm>
          <a:off x="411480" y="1810512"/>
          <a:ext cx="5623560" cy="1939016"/>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246888">
                <a:tc>
                  <a:txBody>
                    <a:bodyPr/>
                    <a:lstStyle/>
                    <a:p>
                      <a:pPr>
                        <a:defRPr sz="850" b="1">
                          <a:solidFill>
                            <a:srgbClr val="0A3533"/>
                          </a:solidFill>
                          <a:latin typeface="VW Text"/>
                        </a:defRPr>
                      </a:pPr>
                      <a:r>
                        <a:rPr sz="850" b="1">
                          <a:solidFill>
                            <a:srgbClr val="0A3533"/>
                          </a:solidFill>
                          <a:latin typeface="VW Text"/>
                        </a:rPr>
                        <a:t>Area</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Completed</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Partial</a:t>
                      </a:r>
                    </a:p>
                  </a:txBody>
                  <a:tcPr marL="64008" marR="45720" marT="27432" marB="27432">
                    <a:solidFill>
                      <a:srgbClr val="35D6AE"/>
                    </a:solidFill>
                  </a:tcPr>
                </a:tc>
                <a:tc>
                  <a:txBody>
                    <a:bodyPr/>
                    <a:lstStyle/>
                    <a:p>
                      <a:pPr>
                        <a:defRPr sz="850" b="1">
                          <a:solidFill>
                            <a:srgbClr val="0A3533"/>
                          </a:solidFill>
                          <a:latin typeface="VW Text"/>
                        </a:defRPr>
                      </a:pPr>
                      <a:r>
                        <a:rPr sz="850" b="1">
                          <a:solidFill>
                            <a:srgbClr val="0A3533"/>
                          </a:solidFill>
                          <a:latin typeface="VW Text"/>
                        </a:rPr>
                        <a:t>Not started</a:t>
                      </a:r>
                    </a:p>
                  </a:txBody>
                  <a:tcPr marL="64008" marR="45720" marT="27432" marB="27432">
                    <a:solidFill>
                      <a:srgbClr val="35D6AE"/>
                    </a:solidFill>
                  </a:tcPr>
                </a:tc>
                <a:extLst>
                  <a:ext uri="{0D108BD9-81ED-4DB2-BD59-A6C34878D82A}">
                    <a16:rowId xmlns:a16="http://schemas.microsoft.com/office/drawing/2014/main" val="10000"/>
                  </a:ext>
                </a:extLst>
              </a:tr>
              <a:tr h="180528">
                <a:tc>
                  <a:txBody>
                    <a:bodyPr/>
                    <a:lstStyle/>
                    <a:p>
                      <a:pPr>
                        <a:defRPr sz="800" b="1">
                          <a:solidFill>
                            <a:srgbClr val="BFDED8"/>
                          </a:solidFill>
                          <a:latin typeface="VW Text"/>
                        </a:defRPr>
                      </a:pPr>
                      <a:r>
                        <a:rPr sz="800" b="1">
                          <a:solidFill>
                            <a:srgbClr val="FFFFFF"/>
                          </a:solidFill>
                          <a:latin typeface="VW Text"/>
                        </a:rPr>
                        <a:t>Expected scope</a:t>
                      </a:r>
                    </a:p>
                  </a:txBody>
                  <a:tcPr marL="64008" marR="45720" marT="18288" marB="18288">
                    <a:solidFill>
                      <a:srgbClr val="125A55"/>
                    </a:solidFill>
                  </a:tcPr>
                </a:tc>
                <a:tc>
                  <a:txBody>
                    <a:bodyPr/>
                    <a:lstStyle/>
                    <a:p>
                      <a:pPr>
                        <a:defRPr sz="800">
                          <a:solidFill>
                            <a:srgbClr val="FFFFFF"/>
                          </a:solidFill>
                          <a:latin typeface="VW Text"/>
                        </a:defRPr>
                      </a:pPr>
                      <a:r>
                        <a:rPr sz="800" b="0">
                          <a:solidFill>
                            <a:srgbClr val="FFFFFF"/>
                          </a:solidFill>
                          <a:latin typeface="VW Text"/>
                        </a:rPr>
                        <a:t>✓  7 of 7 + DoD</a:t>
                      </a:r>
                      <a:endParaRPr/>
                    </a:p>
                  </a:txBody>
                  <a:tcPr marL="64008" marR="45720" marT="18288" marB="18288">
                    <a:solidFill>
                      <a:srgbClr val="125A55"/>
                    </a:solidFill>
                  </a:tcPr>
                </a:tc>
                <a:tc>
                  <a:txBody>
                    <a:bodyPr/>
                    <a:lstStyle/>
                    <a:p>
                      <a:pPr>
                        <a:defRPr sz="800">
                          <a:solidFill>
                            <a:srgbClr val="FFFFFF"/>
                          </a:solidFill>
                          <a:latin typeface="VW Text"/>
                        </a:defRPr>
                      </a:pPr>
                      <a:endParaRPr/>
                    </a:p>
                  </a:txBody>
                  <a:tcPr marL="64008" marR="45720" marT="18288" marB="18288">
                    <a:solidFill>
                      <a:srgbClr val="125A55"/>
                    </a:solidFill>
                  </a:tcPr>
                </a:tc>
                <a:tc>
                  <a:txBody>
                    <a:bodyPr/>
                    <a:lstStyle/>
                    <a:p>
                      <a:pPr>
                        <a:defRPr sz="800">
                          <a:solidFill>
                            <a:srgbClr val="FFFFFF"/>
                          </a:solidFill>
                          <a:latin typeface="VW Text"/>
                        </a:defRPr>
                      </a:pPr>
                      <a:endParaRPr/>
                    </a:p>
                  </a:txBody>
                  <a:tcPr marL="64008" marR="45720" marT="18288" marB="18288">
                    <a:solidFill>
                      <a:srgbClr val="125A55"/>
                    </a:solidFill>
                  </a:tcPr>
                </a:tc>
                <a:extLst>
                  <a:ext uri="{0D108BD9-81ED-4DB2-BD59-A6C34878D82A}">
                    <a16:rowId xmlns:a16="http://schemas.microsoft.com/office/drawing/2014/main" val="10001"/>
                  </a:ext>
                </a:extLst>
              </a:tr>
              <a:tr h="180528">
                <a:tc>
                  <a:txBody>
                    <a:bodyPr/>
                    <a:lstStyle/>
                    <a:p>
                      <a:pPr>
                        <a:defRPr sz="800" b="1">
                          <a:solidFill>
                            <a:srgbClr val="BFDED8"/>
                          </a:solidFill>
                          <a:latin typeface="VW Text"/>
                        </a:defRPr>
                      </a:pPr>
                      <a:r>
                        <a:rPr sz="800" b="1">
                          <a:solidFill>
                            <a:srgbClr val="FFFFFF"/>
                          </a:solidFill>
                          <a:latin typeface="VW Text"/>
                        </a:rPr>
                        <a:t>Front end</a:t>
                      </a:r>
                    </a:p>
                  </a:txBody>
                  <a:tcPr marL="64008" marR="45720" marT="18288" marB="18288">
                    <a:solidFill>
                      <a:srgbClr val="10534F"/>
                    </a:solidFill>
                  </a:tcPr>
                </a:tc>
                <a:tc>
                  <a:txBody>
                    <a:bodyPr/>
                    <a:lstStyle/>
                    <a:p>
                      <a:pPr>
                        <a:defRPr sz="800">
                          <a:solidFill>
                            <a:srgbClr val="FFFFFF"/>
                          </a:solidFill>
                          <a:latin typeface="VW Text"/>
                        </a:defRPr>
                      </a:pPr>
                      <a:r>
                        <a:rPr sz="800" b="0">
                          <a:solidFill>
                            <a:srgbClr val="FFFFFF"/>
                          </a:solidFill>
                          <a:latin typeface="VW Text"/>
                        </a:rPr>
                        <a:t>✓  4 role UIs</a:t>
                      </a: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extLst>
                  <a:ext uri="{0D108BD9-81ED-4DB2-BD59-A6C34878D82A}">
                    <a16:rowId xmlns:a16="http://schemas.microsoft.com/office/drawing/2014/main" val="10002"/>
                  </a:ext>
                </a:extLst>
              </a:tr>
              <a:tr h="180528">
                <a:tc>
                  <a:txBody>
                    <a:bodyPr/>
                    <a:lstStyle/>
                    <a:p>
                      <a:pPr>
                        <a:defRPr sz="800" b="1">
                          <a:solidFill>
                            <a:srgbClr val="BFDED8"/>
                          </a:solidFill>
                          <a:latin typeface="VW Text"/>
                        </a:defRPr>
                      </a:pPr>
                      <a:r>
                        <a:rPr sz="800" b="1">
                          <a:solidFill>
                            <a:srgbClr val="FFFFFF"/>
                          </a:solidFill>
                          <a:latin typeface="VW Text"/>
                        </a:rPr>
                        <a:t>Backend</a:t>
                      </a:r>
                    </a:p>
                  </a:txBody>
                  <a:tcPr marL="64008" marR="45720" marT="18288" marB="18288">
                    <a:solidFill>
                      <a:srgbClr val="125A55"/>
                    </a:solidFill>
                  </a:tcPr>
                </a:tc>
                <a:tc>
                  <a:txBody>
                    <a:bodyPr/>
                    <a:lstStyle/>
                    <a:p>
                      <a:pPr>
                        <a:defRPr sz="800">
                          <a:solidFill>
                            <a:srgbClr val="FFFFFF"/>
                          </a:solidFill>
                          <a:latin typeface="VW Text"/>
                        </a:defRPr>
                      </a:pPr>
                      <a:r>
                        <a:rPr sz="800" b="0">
                          <a:solidFill>
                            <a:srgbClr val="FFFFFF"/>
                          </a:solidFill>
                          <a:latin typeface="VW Text"/>
                        </a:rPr>
                        <a:t>✓  all services</a:t>
                      </a:r>
                      <a:endParaRPr/>
                    </a:p>
                  </a:txBody>
                  <a:tcPr marL="64008" marR="45720" marT="18288" marB="18288">
                    <a:solidFill>
                      <a:srgbClr val="125A55"/>
                    </a:solidFill>
                  </a:tcPr>
                </a:tc>
                <a:tc>
                  <a:txBody>
                    <a:bodyPr/>
                    <a:lstStyle/>
                    <a:p>
                      <a:pPr>
                        <a:defRPr sz="800">
                          <a:solidFill>
                            <a:srgbClr val="FFFFFF"/>
                          </a:solidFill>
                          <a:latin typeface="VW Text"/>
                        </a:defRPr>
                      </a:pPr>
                      <a:endParaRPr/>
                    </a:p>
                  </a:txBody>
                  <a:tcPr marL="64008" marR="45720" marT="18288" marB="18288">
                    <a:solidFill>
                      <a:srgbClr val="125A55"/>
                    </a:solidFill>
                  </a:tcPr>
                </a:tc>
                <a:tc>
                  <a:txBody>
                    <a:bodyPr/>
                    <a:lstStyle/>
                    <a:p>
                      <a:pPr>
                        <a:defRPr sz="800">
                          <a:solidFill>
                            <a:srgbClr val="FFFFFF"/>
                          </a:solidFill>
                          <a:latin typeface="VW Text"/>
                        </a:defRPr>
                      </a:pPr>
                      <a:endParaRPr/>
                    </a:p>
                  </a:txBody>
                  <a:tcPr marL="64008" marR="45720" marT="18288" marB="18288">
                    <a:solidFill>
                      <a:srgbClr val="125A55"/>
                    </a:solidFill>
                  </a:tcPr>
                </a:tc>
                <a:extLst>
                  <a:ext uri="{0D108BD9-81ED-4DB2-BD59-A6C34878D82A}">
                    <a16:rowId xmlns:a16="http://schemas.microsoft.com/office/drawing/2014/main" val="10003"/>
                  </a:ext>
                </a:extLst>
              </a:tr>
              <a:tr h="180528">
                <a:tc>
                  <a:txBody>
                    <a:bodyPr/>
                    <a:lstStyle/>
                    <a:p>
                      <a:pPr>
                        <a:defRPr sz="800" b="1">
                          <a:solidFill>
                            <a:srgbClr val="BFDED8"/>
                          </a:solidFill>
                          <a:latin typeface="VW Text"/>
                        </a:defRPr>
                      </a:pPr>
                      <a:r>
                        <a:rPr sz="800" b="1">
                          <a:solidFill>
                            <a:srgbClr val="FFFFFF"/>
                          </a:solidFill>
                          <a:latin typeface="VW Text"/>
                        </a:rPr>
                        <a:t>AI agents / AI logic</a:t>
                      </a:r>
                    </a:p>
                  </a:txBody>
                  <a:tcPr marL="64008" marR="45720" marT="18288" marB="18288">
                    <a:solidFill>
                      <a:srgbClr val="10534F"/>
                    </a:solidFill>
                  </a:tcPr>
                </a:tc>
                <a:tc>
                  <a:txBody>
                    <a:bodyPr/>
                    <a:lstStyle/>
                    <a:p>
                      <a:pPr>
                        <a:defRPr sz="800">
                          <a:solidFill>
                            <a:srgbClr val="FFFFFF"/>
                          </a:solidFill>
                          <a:latin typeface="VW Text"/>
                        </a:defRPr>
                      </a:pPr>
                      <a:r>
                        <a:rPr sz="800" b="0">
                          <a:solidFill>
                            <a:srgbClr val="FFFFFF"/>
                          </a:solidFill>
                          <a:latin typeface="VW Text"/>
                        </a:rPr>
                        <a:t>✓  3 agents, 8 uses</a:t>
                      </a: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extLst>
                  <a:ext uri="{0D108BD9-81ED-4DB2-BD59-A6C34878D82A}">
                    <a16:rowId xmlns:a16="http://schemas.microsoft.com/office/drawing/2014/main" val="10004"/>
                  </a:ext>
                </a:extLst>
              </a:tr>
              <a:tr h="304480">
                <a:tc>
                  <a:txBody>
                    <a:bodyPr/>
                    <a:lstStyle/>
                    <a:p>
                      <a:pPr>
                        <a:defRPr sz="800" b="1">
                          <a:solidFill>
                            <a:srgbClr val="BFDED8"/>
                          </a:solidFill>
                          <a:latin typeface="VW Text"/>
                        </a:defRPr>
                      </a:pPr>
                      <a:r>
                        <a:rPr sz="800" b="1">
                          <a:solidFill>
                            <a:srgbClr val="FFFFFF"/>
                          </a:solidFill>
                          <a:latin typeface="VW Text"/>
                        </a:rPr>
                        <a:t>Data integration</a:t>
                      </a:r>
                    </a:p>
                  </a:txBody>
                  <a:tcPr marL="64008" marR="45720" marT="18288" marB="18288">
                    <a:solidFill>
                      <a:srgbClr val="125A55"/>
                    </a:solidFill>
                  </a:tcPr>
                </a:tc>
                <a:tc>
                  <a:txBody>
                    <a:bodyPr/>
                    <a:lstStyle/>
                    <a:p>
                      <a:pPr>
                        <a:defRPr sz="800">
                          <a:solidFill>
                            <a:srgbClr val="FFFFFF"/>
                          </a:solidFill>
                          <a:latin typeface="VW Text"/>
                        </a:defRPr>
                      </a:pPr>
                      <a:r>
                        <a:rPr sz="800" b="0">
                          <a:solidFill>
                            <a:srgbClr val="FFFFFF"/>
                          </a:solidFill>
                          <a:latin typeface="VW Text"/>
                        </a:rPr>
                        <a:t>✓  portal, mail, supplier</a:t>
                      </a:r>
                      <a:endParaRPr/>
                    </a:p>
                  </a:txBody>
                  <a:tcPr marL="64008" marR="45720" marT="18288" marB="18288">
                    <a:solidFill>
                      <a:srgbClr val="125A55"/>
                    </a:solidFill>
                  </a:tcPr>
                </a:tc>
                <a:tc>
                  <a:txBody>
                    <a:bodyPr/>
                    <a:lstStyle/>
                    <a:p>
                      <a:pPr>
                        <a:defRPr sz="800">
                          <a:solidFill>
                            <a:srgbClr val="FFFFFF"/>
                          </a:solidFill>
                          <a:latin typeface="VW Text"/>
                        </a:defRPr>
                      </a:pPr>
                      <a:r>
                        <a:rPr sz="800" b="0">
                          <a:solidFill>
                            <a:srgbClr val="FFFFFF"/>
                          </a:solidFill>
                          <a:latin typeface="VW Text"/>
                        </a:rPr>
                        <a:t>◐  SAP</a:t>
                      </a:r>
                      <a:endParaRPr/>
                    </a:p>
                  </a:txBody>
                  <a:tcPr marL="64008" marR="45720" marT="18288" marB="18288">
                    <a:solidFill>
                      <a:srgbClr val="125A55"/>
                    </a:solidFill>
                  </a:tcPr>
                </a:tc>
                <a:tc>
                  <a:txBody>
                    <a:bodyPr/>
                    <a:lstStyle/>
                    <a:p>
                      <a:pPr>
                        <a:defRPr sz="800">
                          <a:solidFill>
                            <a:srgbClr val="FFFFFF"/>
                          </a:solidFill>
                          <a:latin typeface="VW Text"/>
                        </a:defRPr>
                      </a:pPr>
                      <a:endParaRPr/>
                    </a:p>
                  </a:txBody>
                  <a:tcPr marL="64008" marR="45720" marT="18288" marB="18288">
                    <a:solidFill>
                      <a:srgbClr val="125A55"/>
                    </a:solidFill>
                  </a:tcPr>
                </a:tc>
                <a:extLst>
                  <a:ext uri="{0D108BD9-81ED-4DB2-BD59-A6C34878D82A}">
                    <a16:rowId xmlns:a16="http://schemas.microsoft.com/office/drawing/2014/main" val="10005"/>
                  </a:ext>
                </a:extLst>
              </a:tr>
              <a:tr h="180528">
                <a:tc>
                  <a:txBody>
                    <a:bodyPr/>
                    <a:lstStyle/>
                    <a:p>
                      <a:pPr>
                        <a:defRPr sz="800" b="1">
                          <a:solidFill>
                            <a:srgbClr val="BFDED8"/>
                          </a:solidFill>
                          <a:latin typeface="VW Text"/>
                        </a:defRPr>
                      </a:pPr>
                      <a:r>
                        <a:rPr sz="800" b="1">
                          <a:solidFill>
                            <a:srgbClr val="FFFFFF"/>
                          </a:solidFill>
                          <a:latin typeface="VW Text"/>
                        </a:rPr>
                        <a:t>Testing</a:t>
                      </a:r>
                    </a:p>
                  </a:txBody>
                  <a:tcPr marL="64008" marR="45720" marT="18288" marB="18288">
                    <a:solidFill>
                      <a:srgbClr val="10534F"/>
                    </a:solidFill>
                  </a:tcPr>
                </a:tc>
                <a:tc>
                  <a:txBody>
                    <a:bodyPr/>
                    <a:lstStyle/>
                    <a:p>
                      <a:pPr>
                        <a:defRPr sz="800">
                          <a:solidFill>
                            <a:srgbClr val="FFFFFF"/>
                          </a:solidFill>
                          <a:latin typeface="VW Text"/>
                        </a:defRPr>
                      </a:pPr>
                      <a:r>
                        <a:rPr sz="800" b="0">
                          <a:solidFill>
                            <a:srgbClr val="FFFFFF"/>
                          </a:solidFill>
                          <a:latin typeface="VW Text"/>
                        </a:rPr>
                        <a:t>✓  10 scenario types</a:t>
                      </a:r>
                      <a:endParaRPr/>
                    </a:p>
                  </a:txBody>
                  <a:tcPr marL="64008" marR="45720" marT="18288" marB="18288">
                    <a:solidFill>
                      <a:srgbClr val="10534F"/>
                    </a:solidFill>
                  </a:tcPr>
                </a:tc>
                <a:tc>
                  <a:txBody>
                    <a:bodyPr/>
                    <a:lstStyle/>
                    <a:p>
                      <a:pPr>
                        <a:defRPr sz="800">
                          <a:solidFill>
                            <a:srgbClr val="FFFFFF"/>
                          </a:solidFill>
                          <a:latin typeface="VW Text"/>
                        </a:defRPr>
                      </a:pPr>
                      <a:r>
                        <a:rPr sz="800" b="0">
                          <a:solidFill>
                            <a:srgbClr val="FFFFFF"/>
                          </a:solidFill>
                          <a:latin typeface="VW Text"/>
                        </a:rPr>
                        <a:t>◐  no auto tests</a:t>
                      </a: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extLst>
                  <a:ext uri="{0D108BD9-81ED-4DB2-BD59-A6C34878D82A}">
                    <a16:rowId xmlns:a16="http://schemas.microsoft.com/office/drawing/2014/main" val="10006"/>
                  </a:ext>
                </a:extLst>
              </a:tr>
              <a:tr h="180528">
                <a:tc>
                  <a:txBody>
                    <a:bodyPr/>
                    <a:lstStyle/>
                    <a:p>
                      <a:pPr>
                        <a:defRPr sz="800" b="1">
                          <a:solidFill>
                            <a:srgbClr val="BFDED8"/>
                          </a:solidFill>
                          <a:latin typeface="VW Text"/>
                        </a:defRPr>
                      </a:pPr>
                      <a:r>
                        <a:rPr sz="800" b="1">
                          <a:solidFill>
                            <a:srgbClr val="FFFFFF"/>
                          </a:solidFill>
                          <a:latin typeface="VW Text"/>
                        </a:rPr>
                        <a:t>Deployment</a:t>
                      </a:r>
                    </a:p>
                  </a:txBody>
                  <a:tcPr marL="64008" marR="45720" marT="18288" marB="18288">
                    <a:solidFill>
                      <a:srgbClr val="125A55"/>
                    </a:solidFill>
                  </a:tcPr>
                </a:tc>
                <a:tc>
                  <a:txBody>
                    <a:bodyPr/>
                    <a:lstStyle/>
                    <a:p>
                      <a:pPr>
                        <a:defRPr sz="800">
                          <a:solidFill>
                            <a:srgbClr val="FFFFFF"/>
                          </a:solidFill>
                          <a:latin typeface="VW Text"/>
                        </a:defRPr>
                      </a:pPr>
                      <a:r>
                        <a:rPr sz="800" b="0">
                          <a:solidFill>
                            <a:srgbClr val="FFFFFF"/>
                          </a:solidFill>
                          <a:latin typeface="VW Text"/>
                        </a:rPr>
                        <a:t>✓  local / on-prem</a:t>
                      </a:r>
                      <a:endParaRPr/>
                    </a:p>
                  </a:txBody>
                  <a:tcPr marL="64008" marR="45720" marT="18288" marB="18288">
                    <a:solidFill>
                      <a:srgbClr val="125A55"/>
                    </a:solidFill>
                  </a:tcPr>
                </a:tc>
                <a:tc>
                  <a:txBody>
                    <a:bodyPr/>
                    <a:lstStyle/>
                    <a:p>
                      <a:pPr>
                        <a:defRPr sz="800">
                          <a:solidFill>
                            <a:srgbClr val="FFFFFF"/>
                          </a:solidFill>
                          <a:latin typeface="VW Text"/>
                        </a:defRPr>
                      </a:pPr>
                      <a:r>
                        <a:rPr sz="800" b="0">
                          <a:solidFill>
                            <a:srgbClr val="FFFFFF"/>
                          </a:solidFill>
                          <a:latin typeface="VW Text"/>
                        </a:rPr>
                        <a:t>◐  cloud container</a:t>
                      </a:r>
                      <a:endParaRPr/>
                    </a:p>
                  </a:txBody>
                  <a:tcPr marL="64008" marR="45720" marT="18288" marB="18288">
                    <a:solidFill>
                      <a:srgbClr val="125A55"/>
                    </a:solidFill>
                  </a:tcPr>
                </a:tc>
                <a:tc>
                  <a:txBody>
                    <a:bodyPr/>
                    <a:lstStyle/>
                    <a:p>
                      <a:pPr>
                        <a:defRPr sz="800">
                          <a:solidFill>
                            <a:srgbClr val="FFFFFF"/>
                          </a:solidFill>
                          <a:latin typeface="VW Text"/>
                        </a:defRPr>
                      </a:pPr>
                      <a:endParaRPr/>
                    </a:p>
                  </a:txBody>
                  <a:tcPr marL="64008" marR="45720" marT="18288" marB="18288">
                    <a:solidFill>
                      <a:srgbClr val="125A55"/>
                    </a:solidFill>
                  </a:tcPr>
                </a:tc>
                <a:extLst>
                  <a:ext uri="{0D108BD9-81ED-4DB2-BD59-A6C34878D82A}">
                    <a16:rowId xmlns:a16="http://schemas.microsoft.com/office/drawing/2014/main" val="10007"/>
                  </a:ext>
                </a:extLst>
              </a:tr>
              <a:tr h="304480">
                <a:tc>
                  <a:txBody>
                    <a:bodyPr/>
                    <a:lstStyle/>
                    <a:p>
                      <a:pPr>
                        <a:defRPr sz="800" b="1">
                          <a:solidFill>
                            <a:srgbClr val="BFDED8"/>
                          </a:solidFill>
                          <a:latin typeface="VW Text"/>
                        </a:defRPr>
                      </a:pPr>
                      <a:r>
                        <a:rPr sz="800" b="1">
                          <a:solidFill>
                            <a:srgbClr val="FFFFFF"/>
                          </a:solidFill>
                          <a:latin typeface="VW Text"/>
                        </a:rPr>
                        <a:t>Documentation</a:t>
                      </a:r>
                    </a:p>
                  </a:txBody>
                  <a:tcPr marL="64008" marR="45720" marT="18288" marB="18288">
                    <a:solidFill>
                      <a:srgbClr val="10534F"/>
                    </a:solidFill>
                  </a:tcPr>
                </a:tc>
                <a:tc>
                  <a:txBody>
                    <a:bodyPr/>
                    <a:lstStyle/>
                    <a:p>
                      <a:pPr>
                        <a:defRPr sz="800">
                          <a:solidFill>
                            <a:srgbClr val="FFFFFF"/>
                          </a:solidFill>
                          <a:latin typeface="VW Text"/>
                        </a:defRPr>
                      </a:pPr>
                      <a:r>
                        <a:rPr sz="800" b="0">
                          <a:solidFill>
                            <a:srgbClr val="FFFFFF"/>
                          </a:solidFill>
                          <a:latin typeface="VW Text"/>
                        </a:rPr>
                        <a:t>✓  README, arch, script</a:t>
                      </a: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tc>
                  <a:txBody>
                    <a:bodyPr/>
                    <a:lstStyle/>
                    <a:p>
                      <a:pPr>
                        <a:defRPr sz="800">
                          <a:solidFill>
                            <a:srgbClr val="FFFFFF"/>
                          </a:solidFill>
                          <a:latin typeface="VW Text"/>
                        </a:defRPr>
                      </a:pPr>
                      <a:endParaRPr/>
                    </a:p>
                  </a:txBody>
                  <a:tcPr marL="64008" marR="45720" marT="18288" marB="18288">
                    <a:solidFill>
                      <a:srgbClr val="10534F"/>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6153912" y="1810512"/>
            <a:ext cx="5623560" cy="22860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KNOWN LIMITATIONS</a:t>
            </a:r>
          </a:p>
          <a:p>
            <a:pPr>
              <a:spcBef>
                <a:spcPts val="0"/>
              </a:spcBef>
              <a:spcAft>
                <a:spcPts val="100"/>
              </a:spcAft>
            </a:pPr>
            <a:r>
              <a:rPr sz="800" b="1">
                <a:solidFill>
                  <a:srgbClr val="FFFFFF"/>
                </a:solidFill>
                <a:latin typeface="VW Text"/>
              </a:rPr>
              <a:t>Top 3 functional limitations</a:t>
            </a:r>
          </a:p>
          <a:p>
            <a:pPr>
              <a:spcBef>
                <a:spcPts val="0"/>
              </a:spcBef>
              <a:spcAft>
                <a:spcPts val="100"/>
              </a:spcAft>
            </a:pPr>
            <a:r>
              <a:rPr sz="800" b="0">
                <a:solidFill>
                  <a:srgbClr val="FFFFFF"/>
                </a:solidFill>
                <a:latin typeface="VW Text"/>
              </a:rPr>
              <a:t>Rate-card quotes without a single total are flagged, not compared · FX uses configured reference rates, not a live feed · department/commodity lists are GP-India specific.</a:t>
            </a:r>
          </a:p>
          <a:p>
            <a:pPr>
              <a:spcBef>
                <a:spcPts val="0"/>
              </a:spcBef>
              <a:spcAft>
                <a:spcPts val="100"/>
              </a:spcAft>
            </a:pPr>
            <a:r>
              <a:rPr sz="800" b="1">
                <a:solidFill>
                  <a:srgbClr val="FFFFFF"/>
                </a:solidFill>
                <a:latin typeface="VW Text"/>
              </a:rPr>
              <a:t>Top 3 technical limitations</a:t>
            </a:r>
          </a:p>
          <a:p>
            <a:pPr>
              <a:spcBef>
                <a:spcPts val="0"/>
              </a:spcBef>
              <a:spcAft>
                <a:spcPts val="100"/>
              </a:spcAft>
            </a:pPr>
            <a:r>
              <a:rPr sz="800" b="0">
                <a:solidFill>
                  <a:srgbClr val="FFFFFF"/>
                </a:solidFill>
                <a:latin typeface="VW Text"/>
              </a:rPr>
              <a:t>SQLite single-process store · long documents are truncated to the first pages for the model · vision path for scans is optional and untested at scale.</a:t>
            </a:r>
          </a:p>
          <a:p>
            <a:pPr>
              <a:spcBef>
                <a:spcPts val="0"/>
              </a:spcBef>
              <a:spcAft>
                <a:spcPts val="100"/>
              </a:spcAft>
            </a:pPr>
            <a:r>
              <a:rPr sz="800" b="1">
                <a:solidFill>
                  <a:srgbClr val="FFFFFF"/>
                </a:solidFill>
                <a:latin typeface="VW Text"/>
              </a:rPr>
              <a:t>Security, privacy and data dependencies</a:t>
            </a:r>
          </a:p>
          <a:p>
            <a:pPr>
              <a:spcBef>
                <a:spcPts val="0"/>
              </a:spcBef>
              <a:spcAft>
                <a:spcPts val="100"/>
              </a:spcAft>
            </a:pPr>
            <a:r>
              <a:rPr sz="800" b="0">
                <a:solidFill>
                  <a:srgbClr val="FFFFFF"/>
                </a:solidFill>
                <a:latin typeface="VW Text"/>
              </a:rPr>
              <a:t>Email/password auth (no SSO yet); supplier links are signed tokens; all data synthetic; credentials in environment variables; documents leave the LAN only to VW LLMaaS.</a:t>
            </a:r>
          </a:p>
          <a:p>
            <a:pPr>
              <a:spcBef>
                <a:spcPts val="0"/>
              </a:spcBef>
              <a:spcAft>
                <a:spcPts val="100"/>
              </a:spcAft>
            </a:pPr>
            <a:r>
              <a:rPr sz="800" b="1">
                <a:solidFill>
                  <a:srgbClr val="FFFFFF"/>
                </a:solidFill>
                <a:latin typeface="VW Text"/>
              </a:rPr>
              <a:t>Scalability constraints / external services</a:t>
            </a:r>
          </a:p>
          <a:p>
            <a:pPr>
              <a:spcBef>
                <a:spcPts val="0"/>
              </a:spcBef>
              <a:spcAft>
                <a:spcPts val="100"/>
              </a:spcAft>
            </a:pPr>
            <a:r>
              <a:rPr sz="800" b="0">
                <a:solidFill>
                  <a:srgbClr val="FFFFFF"/>
                </a:solidFill>
                <a:latin typeface="VW Text"/>
              </a:rPr>
              <a:t>One uvicorn process; depends on VW LLMaaS (budget-metered) and Microsoft Graph consent for the mailbox.</a:t>
            </a:r>
          </a:p>
        </p:txBody>
      </p:sp>
      <p:sp>
        <p:nvSpPr>
          <p:cNvPr id="8" name="TextBox 7"/>
          <p:cNvSpPr txBox="1"/>
          <p:nvPr/>
        </p:nvSpPr>
        <p:spPr>
          <a:xfrm>
            <a:off x="411480" y="4224528"/>
            <a:ext cx="11365992" cy="256032"/>
          </a:xfrm>
          <a:prstGeom prst="rect">
            <a:avLst/>
          </a:prstGeom>
          <a:noFill/>
        </p:spPr>
        <p:txBody>
          <a:bodyPr wrap="square" lIns="0" tIns="0" rIns="0" bIns="0">
            <a:spAutoFit/>
          </a:bodyPr>
          <a:lstStyle/>
          <a:p>
            <a:pPr algn="l"/>
            <a:r>
              <a:rPr sz="1100" b="1">
                <a:solidFill>
                  <a:srgbClr val="ACE82E"/>
                </a:solidFill>
                <a:latin typeface="VW Text"/>
              </a:rPr>
              <a:t>PATH TO PILOT</a:t>
            </a:r>
          </a:p>
        </p:txBody>
      </p:sp>
      <p:sp>
        <p:nvSpPr>
          <p:cNvPr id="9" name="Rectangle 8"/>
          <p:cNvSpPr/>
          <p:nvPr/>
        </p:nvSpPr>
        <p:spPr>
          <a:xfrm>
            <a:off x="411480" y="4498848"/>
            <a:ext cx="3611880" cy="9144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30 days  —  Stabilise &amp; validate</a:t>
            </a:r>
          </a:p>
          <a:p>
            <a:pPr>
              <a:spcBef>
                <a:spcPts val="0"/>
              </a:spcBef>
              <a:spcAft>
                <a:spcPts val="100"/>
              </a:spcAft>
            </a:pPr>
            <a:r>
              <a:rPr sz="800" b="0">
                <a:solidFill>
                  <a:srgbClr val="FFFFFF"/>
                </a:solidFill>
                <a:latin typeface="VW Text"/>
              </a:rPr>
              <a:t>Deliverable: pilot build with SSO stub, automated tests on the 10 scenarios, live FX feed · Dependency: LLMaaS quota, pilot buyers · Measure: 100 % scenarios pass, 2 buyers using it daily</a:t>
            </a:r>
          </a:p>
        </p:txBody>
      </p:sp>
      <p:sp>
        <p:nvSpPr>
          <p:cNvPr id="10" name="Rectangle 9"/>
          <p:cNvSpPr/>
          <p:nvPr/>
        </p:nvSpPr>
        <p:spPr>
          <a:xfrm>
            <a:off x="4233672" y="4498848"/>
            <a:ext cx="3611880" cy="9144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60 days  —  Integrate &amp; harden</a:t>
            </a:r>
          </a:p>
          <a:p>
            <a:pPr>
              <a:spcBef>
                <a:spcPts val="0"/>
              </a:spcBef>
              <a:spcAft>
                <a:spcPts val="100"/>
              </a:spcAft>
            </a:pPr>
            <a:r>
              <a:rPr sz="800" b="0">
                <a:solidFill>
                  <a:srgbClr val="FFFFFF"/>
                </a:solidFill>
                <a:latin typeface="VW Text"/>
              </a:rPr>
              <a:t>Deliverable: container on VW cloud, Postgres, SAP cart read, SSO/AD roles, vision on by default · Dependency: SAP interface, cloud project · Measure: real carts flow in without retyping</a:t>
            </a:r>
          </a:p>
        </p:txBody>
      </p:sp>
      <p:sp>
        <p:nvSpPr>
          <p:cNvPr id="11" name="Rectangle 10"/>
          <p:cNvSpPr/>
          <p:nvPr/>
        </p:nvSpPr>
        <p:spPr>
          <a:xfrm>
            <a:off x="8055863" y="4498848"/>
            <a:ext cx="3611880" cy="91440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r>
              <a:rPr sz="1200" b="1">
                <a:solidFill>
                  <a:srgbClr val="ACE82E"/>
                </a:solidFill>
                <a:latin typeface="VW Text"/>
              </a:rPr>
              <a:t>90 days  —  Pilot with target users</a:t>
            </a:r>
          </a:p>
          <a:p>
            <a:pPr>
              <a:spcBef>
                <a:spcPts val="0"/>
              </a:spcBef>
              <a:spcAft>
                <a:spcPts val="100"/>
              </a:spcAft>
            </a:pPr>
            <a:r>
              <a:rPr sz="800" b="0">
                <a:solidFill>
                  <a:srgbClr val="FFFFFF"/>
                </a:solidFill>
                <a:latin typeface="VW Text"/>
              </a:rPr>
              <a:t>Deliverable: pilot with one GP team on live low-value RFQs; AI price benchmarking against past cases and market indices, supplier scoring, negotiation talking points · Dependency: process owner sign-off, historical data · Measure: ≥ 70 % cases clean at first comparison, 4 h saved per buyer per week</a:t>
            </a:r>
          </a:p>
        </p:txBody>
      </p:sp>
      <p:sp>
        <p:nvSpPr>
          <p:cNvPr id="12" name="Rectangle 11"/>
          <p:cNvSpPr/>
          <p:nvPr/>
        </p:nvSpPr>
        <p:spPr>
          <a:xfrm>
            <a:off x="411480" y="5532120"/>
            <a:ext cx="11365992" cy="548640"/>
          </a:xfrm>
          <a:prstGeom prst="rect">
            <a:avLst/>
          </a:prstGeom>
          <a:solidFill>
            <a:srgbClr val="125A55"/>
          </a:solidFill>
          <a:ln w="12700">
            <a:solidFill>
              <a:srgbClr val="35D6AE"/>
            </a:solidFill>
          </a:ln>
          <a:effectLst/>
        </p:spPr>
        <p:style>
          <a:lnRef idx="1">
            <a:schemeClr val="accent1"/>
          </a:lnRef>
          <a:fillRef idx="3">
            <a:schemeClr val="accent1"/>
          </a:fillRef>
          <a:effectRef idx="2">
            <a:schemeClr val="accent1"/>
          </a:effectRef>
          <a:fontRef idx="minor">
            <a:schemeClr val="lt1"/>
          </a:fontRef>
        </p:style>
        <p:txBody>
          <a:bodyPr wrap="square" lIns="128016" tIns="91440" rIns="109728" bIns="73152" rtlCol="0" anchor="t">
            <a:noAutofit/>
          </a:bodyPr>
          <a:lstStyle/>
          <a:p>
            <a:pPr algn="l">
              <a:spcBef>
                <a:spcPts val="0"/>
              </a:spcBef>
              <a:spcAft>
                <a:spcPts val="100"/>
              </a:spcAft>
            </a:pPr>
            <a:r>
              <a:rPr sz="950" b="0">
                <a:solidFill>
                  <a:srgbClr val="FFFFFF"/>
                </a:solidFill>
                <a:latin typeface="VW Text"/>
              </a:rPr>
              <a:t>“As of final submission our prototype can reliably take a request from a form or an email, type and parse its documents, compare competing quotes on one basis, flag what is missing, recommend the next action and hand over an audit-ready case. It cannot yet read from SAP, use live exchange rates or run behind VW SSO. This is best seen in the demo video at ≈ 0:45 – 8:30.”</a:t>
            </a:r>
          </a:p>
        </p:txBody>
      </p:sp>
    </p:spTree>
  </p:cSld>
  <p:clrMapOvr>
    <a:masterClrMapping/>
  </p:clrMapOvr>
</p:sld>
</file>

<file path=ppt/theme/theme1.xml><?xml version="1.0" encoding="utf-8"?>
<a:theme xmlns:a="http://schemas.openxmlformats.org/drawingml/2006/main" name="Office Theme">
  <a:themeElements>
    <a:clrScheme name="Custom 1">
      <a:dk1>
        <a:srgbClr val="FFFFF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VW Head"/>
        <a:ea typeface=""/>
        <a:cs typeface=""/>
      </a:majorFont>
      <a:minorFont>
        <a:latin typeface="VW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0af28d3-fe39-46cc-a37d-c9c7d68f5189">
      <Value>1</Value>
    </TaxCatchAll>
    <RevIMDocumentOwner xmlns="c0af28d3-fe39-46cc-a37d-c9c7d68f5189">
      <UserInfo>
        <DisplayName/>
        <AccountId xsi:nil="true"/>
        <AccountType/>
      </UserInfo>
    </RevIMDocumentOwner>
    <n14f6796d9794bf0a7efaae5a0d95623 xmlns="c0af28d3-fe39-46cc-a37d-c9c7d68f5189">
      <Terms xmlns="http://schemas.microsoft.com/office/infopath/2007/PartnerControls"/>
    </n14f6796d9794bf0a7efaae5a0d95623>
    <lcf76f155ced4ddcb4097134ff3c332f xmlns="dede12bc-f118-4c38-81c9-68f6e1dccfc3">
      <Terms xmlns="http://schemas.microsoft.com/office/infopath/2007/PartnerControls"/>
    </lcf76f155ced4ddcb4097134ff3c332f>
    <i0f84bba906045b4af568ee102a52dcb xmlns="c0af28d3-fe39-46cc-a37d-c9c7d68f5189">
      <Terms xmlns="http://schemas.microsoft.com/office/infopath/2007/PartnerControls">
        <TermInfo xmlns="http://schemas.microsoft.com/office/infopath/2007/PartnerControls">
          <TermName xmlns="http://schemas.microsoft.com/office/infopath/2007/PartnerControls">0.1 Initial category</TermName>
          <TermId xmlns="http://schemas.microsoft.com/office/infopath/2007/PartnerControls">0239cc7a-0c96-48a8-9e0e-a383e362571c</TermId>
        </TermInfo>
      </Terms>
    </i0f84bba906045b4af568ee102a52dcb>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A41B1EF74CE724A9D61F041C9929E70" ma:contentTypeVersion="27" ma:contentTypeDescription="Create a new document." ma:contentTypeScope="" ma:versionID="2ac59d7f61768d6d4b3bba2173a72964">
  <xsd:schema xmlns:xsd="http://www.w3.org/2001/XMLSchema" xmlns:xs="http://www.w3.org/2001/XMLSchema" xmlns:p="http://schemas.microsoft.com/office/2006/metadata/properties" xmlns:ns2="c0af28d3-fe39-46cc-a37d-c9c7d68f5189" xmlns:ns3="dede12bc-f118-4c38-81c9-68f6e1dccfc3" targetNamespace="http://schemas.microsoft.com/office/2006/metadata/properties" ma:root="true" ma:fieldsID="5f5f06955c8dafdf98207e85cbabc2b8" ns2:_="" ns3:_="">
    <xsd:import namespace="c0af28d3-fe39-46cc-a37d-c9c7d68f5189"/>
    <xsd:import namespace="dede12bc-f118-4c38-81c9-68f6e1dccfc3"/>
    <xsd:element name="properties">
      <xsd:complexType>
        <xsd:sequence>
          <xsd:element name="documentManagement">
            <xsd:complexType>
              <xsd:all>
                <xsd:element ref="ns2:n14f6796d9794bf0a7efaae5a0d95623" minOccurs="0"/>
                <xsd:element ref="ns2:TaxCatchAll" minOccurs="0"/>
                <xsd:element ref="ns2:TaxCatchAllLabel" minOccurs="0"/>
                <xsd:element ref="ns3:MediaServiceMetadata" minOccurs="0"/>
                <xsd:element ref="ns3:MediaServiceFastMetadata" minOccurs="0"/>
                <xsd:element ref="ns2:i0f84bba906045b4af568ee102a52dcb" minOccurs="0"/>
                <xsd:element ref="ns2:RevIMDeletionDate" minOccurs="0"/>
                <xsd:element ref="ns2:RevIMEventDate" minOccurs="0"/>
                <xsd:element ref="ns2:RevIMComments" minOccurs="0"/>
                <xsd:element ref="ns2:RevIMDocumentOwner" minOccurs="0"/>
                <xsd:element ref="ns2:RevIMExtends" minOccurs="0"/>
                <xsd:element ref="ns3:MediaServiceDateTaken" minOccurs="0"/>
                <xsd:element ref="ns3:MediaLengthInSeconds" minOccurs="0"/>
                <xsd:element ref="ns3:MediaServiceAutoTags" minOccurs="0"/>
                <xsd:element ref="ns3:MediaServiceLocation" minOccurs="0"/>
                <xsd:element ref="ns3:MediaServiceGenerationTime" minOccurs="0"/>
                <xsd:element ref="ns3:MediaServiceEventHashCode" minOccurs="0"/>
                <xsd:element ref="ns3:MediaServiceOCR" minOccurs="0"/>
                <xsd:element ref="ns3:MediaServiceAutoKeyPoints" minOccurs="0"/>
                <xsd:element ref="ns3:MediaServiceKeyPoints" minOccurs="0"/>
                <xsd:element ref="ns3:lcf76f155ced4ddcb4097134ff3c332f" minOccurs="0"/>
                <xsd:element ref="ns2:SharedWithUsers" minOccurs="0"/>
                <xsd:element ref="ns2:SharedWithDetails" minOccurs="0"/>
                <xsd:element ref="ns3:MediaServiceObjectDetectorVersions" minOccurs="0"/>
                <xsd:element ref="ns3:MediaServiceSearchProperties" minOccurs="0"/>
                <xsd:element ref="ns2:RevIMDateOfModified2Creation" minOccurs="0"/>
                <xsd:element ref="ns2:RevIMDeclareTi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af28d3-fe39-46cc-a37d-c9c7d68f5189" elementFormDefault="qualified">
    <xsd:import namespace="http://schemas.microsoft.com/office/2006/documentManagement/types"/>
    <xsd:import namespace="http://schemas.microsoft.com/office/infopath/2007/PartnerControls"/>
    <xsd:element name="n14f6796d9794bf0a7efaae5a0d95623" ma:index="8" nillable="true" ma:taxonomy="true" ma:internalName="n14f6796d9794bf0a7efaae5a0d95623" ma:taxonomyFieldName="LegalHoldTag" ma:displayName="LegalHold" ma:fieldId="{714f6796-d979-4bf0-a7ef-aae5a0d95623}" ma:taxonomyMulti="true" ma:sspId="d35d9ec1-ff0e-4daf-94ff-594c76aa1822" ma:termSetId="1d36a6df-4193-45ed-b3bc-3ba9643c5e0d" ma:anchorId="00000000-0000-0000-0000-000000000000" ma:open="false" ma:isKeyword="false">
      <xsd:complexType>
        <xsd:sequence>
          <xsd:element ref="pc:Terms" minOccurs="0" maxOccurs="1"/>
        </xsd:sequence>
      </xsd:complexType>
    </xsd:element>
    <xsd:element name="TaxCatchAll" ma:index="9" nillable="true" ma:displayName="Taxonomy Catch All Column" ma:hidden="true" ma:list="{820cb0e5-f475-44de-8999-3fc485994f94}" ma:internalName="TaxCatchAll" ma:showField="CatchAllData" ma:web="c0af28d3-fe39-46cc-a37d-c9c7d68f5189">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820cb0e5-f475-44de-8999-3fc485994f94}" ma:internalName="TaxCatchAllLabel" ma:readOnly="true" ma:showField="CatchAllDataLabel" ma:web="c0af28d3-fe39-46cc-a37d-c9c7d68f5189">
      <xsd:complexType>
        <xsd:complexContent>
          <xsd:extension base="dms:MultiChoiceLookup">
            <xsd:sequence>
              <xsd:element name="Value" type="dms:Lookup" maxOccurs="unbounded" minOccurs="0" nillable="true"/>
            </xsd:sequence>
          </xsd:extension>
        </xsd:complexContent>
      </xsd:complexType>
    </xsd:element>
    <xsd:element name="i0f84bba906045b4af568ee102a52dcb" ma:index="15" nillable="true" ma:taxonomy="true" ma:internalName="i0f84bba906045b4af568ee102a52dcb" ma:taxonomyFieldName="RevIMBCS" ma:displayName="CSD Class" ma:readOnly="true" ma:default="1;#0.1 Initial category|0239cc7a-0c96-48a8-9e0e-a383e362571c" ma:fieldId="{20f84bba-9060-45b4-af56-8ee102a52dcb}" ma:sspId="d35d9ec1-ff0e-4daf-94ff-594c76aa1822" ma:termSetId="83f400d6-6f53-40a3-8fd2-b80b61df545c" ma:anchorId="00000000-0000-0000-0000-000000000000" ma:open="false" ma:isKeyword="false">
      <xsd:complexType>
        <xsd:sequence>
          <xsd:element ref="pc:Terms" minOccurs="0" maxOccurs="1"/>
        </xsd:sequence>
      </xsd:complexType>
    </xsd:element>
    <xsd:element name="RevIMDeletionDate" ma:index="16" nillable="true" ma:displayName="Deletion Date" ma:description="Deletion Date" ma:format="DateOnly" ma:internalName="RevIMDeletionDate" ma:readOnly="true">
      <xsd:simpleType>
        <xsd:restriction base="dms:DateTime"/>
      </xsd:simpleType>
    </xsd:element>
    <xsd:element name="RevIMEventDate" ma:index="17" nillable="true" ma:displayName="Event Date" ma:description="Event Date" ma:format="DateOnly" ma:internalName="RevIMEventDate" ma:readOnly="true">
      <xsd:simpleType>
        <xsd:restriction base="dms:DateTime"/>
      </xsd:simpleType>
    </xsd:element>
    <xsd:element name="RevIMComments" ma:index="18" nillable="true" ma:displayName="Event Comment" ma:internalName="RevIMComments" ma:readOnly="true">
      <xsd:simpleType>
        <xsd:restriction base="dms:Note">
          <xsd:maxLength value="255"/>
        </xsd:restriction>
      </xsd:simpleType>
    </xsd:element>
    <xsd:element name="RevIMDocumentOwner" ma:index="19" nillable="true" ma:displayName="Document Owner" ma:list="UserInfo" ma:internalName="RevIMDocument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evIMExtends" ma:index="20" nillable="true" ma:displayName="RevIMExtends" ma:hidden="true" ma:internalName="RevIMExtends" ma:readOnly="true">
      <xsd:simpleType>
        <xsd:restriction base="dms:Note"/>
      </xsd:simpleType>
    </xsd:element>
    <xsd:element name="SharedWithUsers" ma:index="3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3" nillable="true" ma:displayName="Shared With Details" ma:internalName="SharedWithDetails" ma:readOnly="true">
      <xsd:simpleType>
        <xsd:restriction base="dms:Note">
          <xsd:maxLength value="255"/>
        </xsd:restriction>
      </xsd:simpleType>
    </xsd:element>
    <xsd:element name="RevIMDateOfModified2Creation" ma:index="36" nillable="true" ma:displayName="Reclassification Date from Modified to Creation Class" ma:description="Reclassification Date from Modified to Creation Class" ma:format="DateOnly" ma:indexed="true" ma:internalName="RevIMDateOfModified2Creation" ma:readOnly="true">
      <xsd:simpleType>
        <xsd:restriction base="dms:DateTime"/>
      </xsd:simpleType>
    </xsd:element>
    <xsd:element name="RevIMDeclareTime" ma:index="37" nillable="true" ma:displayName="CSD Record Declaration Time" ma:description="CSD Record Declaration Time" ma:format="DateTime" ma:indexed="true" ma:internalName="RevIMDeclare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ede12bc-f118-4c38-81c9-68f6e1dccfc3"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DateTaken" ma:index="21" nillable="true" ma:displayName="MediaServiceDateTaken" ma:hidden="true" ma:internalName="MediaServiceDateTake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MediaServiceAutoTags" ma:index="23" nillable="true" ma:displayName="Tags" ma:internalName="MediaServiceAutoTags" ma:readOnly="true">
      <xsd:simpleType>
        <xsd:restriction base="dms:Text"/>
      </xsd:simpleType>
    </xsd:element>
    <xsd:element name="MediaServiceLocation" ma:index="24" nillable="true" ma:displayName="Location" ma:internalName="MediaServiceLocation" ma:readOnly="true">
      <xsd:simpleType>
        <xsd:restriction base="dms:Text"/>
      </xsd:simpleType>
    </xsd:element>
    <xsd:element name="MediaServiceGenerationTime" ma:index="25" nillable="true" ma:displayName="MediaServiceGenerationTime" ma:hidden="true" ma:internalName="MediaServiceGenerationTime" ma:readOnly="true">
      <xsd:simpleType>
        <xsd:restriction base="dms:Text"/>
      </xsd:simpleType>
    </xsd:element>
    <xsd:element name="MediaServiceEventHashCode" ma:index="26" nillable="true" ma:displayName="MediaServiceEventHashCode" ma:hidden="true" ma:internalName="MediaServiceEventHashCode" ma:readOnly="true">
      <xsd:simpleType>
        <xsd:restriction base="dms:Text"/>
      </xsd:simpleType>
    </xsd:element>
    <xsd:element name="MediaServiceOCR" ma:index="27" nillable="true" ma:displayName="Extracted Text" ma:internalName="MediaServiceOCR" ma:readOnly="true">
      <xsd:simpleType>
        <xsd:restriction base="dms:Note">
          <xsd:maxLength value="255"/>
        </xsd:restriction>
      </xsd:simpleType>
    </xsd:element>
    <xsd:element name="MediaServiceAutoKeyPoints" ma:index="28" nillable="true" ma:displayName="MediaServiceAutoKeyPoints" ma:hidden="true" ma:internalName="MediaServiceAutoKeyPoints" ma:readOnly="true">
      <xsd:simpleType>
        <xsd:restriction base="dms:Note"/>
      </xsd:simpleType>
    </xsd:element>
    <xsd:element name="MediaServiceKeyPoints" ma:index="29" nillable="true" ma:displayName="KeyPoints" ma:internalName="MediaServiceKeyPoints" ma:readOnly="true">
      <xsd:simpleType>
        <xsd:restriction base="dms:Note">
          <xsd:maxLength value="255"/>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d35d9ec1-ff0e-4daf-94ff-594c76aa18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4" nillable="true" ma:displayName="MediaServiceObjectDetectorVersions" ma:hidden="true" ma:indexed="true" ma:internalName="MediaServiceObjectDetectorVersions"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D1D0E1-0E88-4183-9A04-E40511F43BA5}">
  <ds:schemaRefs>
    <ds:schemaRef ds:uri="55d66dc7-3800-4169-b933-dbe7c9ec2afa"/>
    <ds:schemaRef ds:uri="c0af28d3-fe39-46cc-a37d-c9c7d68f5189"/>
    <ds:schemaRef ds:uri="dede12bc-f118-4c38-81c9-68f6e1dccfc3"/>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E29AFEA-97C9-457A-A816-134679E65A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af28d3-fe39-46cc-a37d-c9c7d68f5189"/>
    <ds:schemaRef ds:uri="dede12bc-f118-4c38-81c9-68f6e1dccf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8BACF82-7F34-4AFF-A924-152D616A1AB5}">
  <ds:schemaRefs>
    <ds:schemaRef ds:uri="http://schemas.microsoft.com/sharepoint/v3/contenttype/forms"/>
  </ds:schemaRefs>
</ds:datastoreItem>
</file>

<file path=docMetadata/LabelInfo.xml><?xml version="1.0" encoding="utf-8"?>
<clbl:labelList xmlns:clbl="http://schemas.microsoft.com/office/2020/mipLabelMetadata">
  <clbl:label id="{b1c9b508-7c6e-42bd-bedf-808292653d6c}" enabled="1" method="Standard" siteId="{2882be50-2012-4d88-ac86-544124e120c8}" removed="0"/>
</clbl:labelList>
</file>

<file path=docProps/app.xml><?xml version="1.0" encoding="utf-8"?>
<Properties xmlns="http://schemas.openxmlformats.org/officeDocument/2006/extended-properties" xmlns:vt="http://schemas.openxmlformats.org/officeDocument/2006/docPropsVTypes">
  <TotalTime>0</TotalTime>
  <Words>4740</Words>
  <Application>Microsoft Office PowerPoint</Application>
  <PresentationFormat>Widescreen</PresentationFormat>
  <Paragraphs>380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The Group TEXT</vt:lpstr>
      <vt:lpstr>VW Head</vt:lpstr>
      <vt:lpstr>VW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Volkswagen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Chakravarthy, Praveen (Digital Solutions IN I-TP)</dc:creator>
  <cp:lastModifiedBy>Adsare, Vedanti (Digital Solutions IN I-DI-D)</cp:lastModifiedBy>
  <cp:revision>10</cp:revision>
  <dcterms:created xsi:type="dcterms:W3CDTF">2026-09-18T05:06:28Z</dcterms:created>
  <dcterms:modified xsi:type="dcterms:W3CDTF">2026-09-19T11:27:23Z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INTERNAL</vt:lpwstr>
  </property>
  <property fmtid="{D5CDD505-2E9C-101B-9397-08002B2CF9AE}" pid="4" name="RevIMBCS">
    <vt:lpwstr>1;#0.1 Initial category|0239cc7a-0c96-48a8-9e0e-a383e362571c</vt:lpwstr>
  </property>
  <property fmtid="{D5CDD505-2E9C-101B-9397-08002B2CF9AE}" pid="5" name="MediaServiceImageTags">
    <vt:lpwstr/>
  </property>
  <property fmtid="{D5CDD505-2E9C-101B-9397-08002B2CF9AE}" pid="6" name="ContentTypeId">
    <vt:lpwstr>0x0101002A41B1EF74CE724A9D61F041C9929E70</vt:lpwstr>
  </property>
  <property fmtid="{D5CDD505-2E9C-101B-9397-08002B2CF9AE}" pid="7" name="LegalHoldTag">
    <vt:lpwstr/>
  </property>
</Properties>
</file>