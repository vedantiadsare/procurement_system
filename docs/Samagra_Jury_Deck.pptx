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sare, Vedanti (Digital Solutions IN I-DI-D)" userId="4801334a-63d4-451b-b3ca-daf48946f781" providerId="ADAL" clId="{D7F95760-8761-438E-A1AD-B032E44449D2}"/>
    <pc:docChg chg="mod modSld modMainMaster">
      <pc:chgData name="Adsare, Vedanti (Digital Solutions IN I-DI-D)" userId="4801334a-63d4-451b-b3ca-daf48946f781" providerId="ADAL" clId="{D7F95760-8761-438E-A1AD-B032E44449D2}" dt="2026-10-15T07:43:43.933" v="30" actId="20577"/>
      <pc:docMkLst>
        <pc:docMk/>
      </pc:docMkLst>
      <pc:sldChg chg="modSp mod">
        <pc:chgData name="Adsare, Vedanti (Digital Solutions IN I-DI-D)" userId="4801334a-63d4-451b-b3ca-daf48946f781" providerId="ADAL" clId="{D7F95760-8761-438E-A1AD-B032E44449D2}" dt="2026-10-15T07:43:43.933" v="30" actId="20577"/>
        <pc:sldMkLst>
          <pc:docMk/>
          <pc:sldMk cId="0" sldId="259"/>
        </pc:sldMkLst>
        <pc:spChg chg="mod">
          <ac:chgData name="Adsare, Vedanti (Digital Solutions IN I-DI-D)" userId="4801334a-63d4-451b-b3ca-daf48946f781" providerId="ADAL" clId="{D7F95760-8761-438E-A1AD-B032E44449D2}" dt="2026-10-15T07:32:33.706" v="1" actId="20577"/>
          <ac:spMkLst>
            <pc:docMk/>
            <pc:sldMk cId="0" sldId="259"/>
            <ac:spMk id="53" creationId="{00000000-0000-0000-0000-000000000000}"/>
          </ac:spMkLst>
        </pc:spChg>
        <pc:spChg chg="mod">
          <ac:chgData name="Adsare, Vedanti (Digital Solutions IN I-DI-D)" userId="4801334a-63d4-451b-b3ca-daf48946f781" providerId="ADAL" clId="{D7F95760-8761-438E-A1AD-B032E44449D2}" dt="2026-10-15T07:43:43.933" v="30" actId="20577"/>
          <ac:spMkLst>
            <pc:docMk/>
            <pc:sldMk cId="0" sldId="259"/>
            <ac:spMk id="66" creationId="{00000000-0000-0000-0000-000000000000}"/>
          </ac:spMkLst>
        </pc:spChg>
      </pc:sldChg>
      <pc:sldMasterChg chg="addSp mod">
        <pc:chgData name="Adsare, Vedanti (Digital Solutions IN I-DI-D)" userId="4801334a-63d4-451b-b3ca-daf48946f781" providerId="ADAL" clId="{D7F95760-8761-438E-A1AD-B032E44449D2}" dt="2026-10-15T07:32:44.903" v="2" actId="33475"/>
        <pc:sldMasterMkLst>
          <pc:docMk/>
          <pc:sldMasterMk cId="2209977519" sldId="2147483648"/>
        </pc:sldMasterMkLst>
        <pc:spChg chg="add">
          <ac:chgData name="Adsare, Vedanti (Digital Solutions IN I-DI-D)" userId="4801334a-63d4-451b-b3ca-daf48946f781" providerId="ADAL" clId="{D7F95760-8761-438E-A1AD-B032E44449D2}" dt="2026-10-15T07:32:44.903" v="2" actId="33475"/>
          <ac:spMkLst>
            <pc:docMk/>
            <pc:sldMasterMk cId="2209977519" sldId="2147483648"/>
            <ac:spMk id="8" creationId="{DEE6EC35-AB24-5D96-BA7D-42EF3921F02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739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0:00–0:30. Introduce the team in one breath: Vedanti Adsare and Monesh Deenadayalan. Samagra means complete: the whole sub-€50k sourcing cycle in one portal, request to 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0:30–2:00. These are GP's real numbers, not ours. 600 cases, 60–90 minutes each on the steps in the problem statement: 600–900 buyer hours a year. 35–45 crore of spend. Rework is an estimate; it isn't monitored today. Say the TAT point out loud: GP already meets TAT, so we don't claim to fix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2:00–3:30. Walk left to right. Requester: the form won't submit without cart, SFO, RFQ, at least one offer, and InfoSec clearance when any screening answer is yes. Buyer: the case lands with the right buyer, quotes are read and tax-stripped, the market check gives a reference price from Amazon.in and Flipkart. Head: live TAT and workload. Supplier: a private link, no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3:30–5:00. Users and sources: three internal roles in the browser behind a signed session; the supplier has no account, only a per-invitation token link reaching the laptop through a Cloudflare tunnel; and requests mailed to the GP mailbox, read through Microsoft Graph. Inside: a layered monolith — one FastAPI process, server-rendered Jinja2 pages. The domain layer is deterministic. The AI agents only read: the Offer agent reads quotes, code verifies every figure; the Enquiry agent drafts the supplier note from the RFQ; Ask this case answers from that case's documents only. Data: SQLite with 15 tables and an audit trail, plus a file store. Externals: SerpAPI, Microsoft Graph (SMTP is blocked on the VW network), LLMaaS GPT-4o with a local Ollama fallback. SAP is proposed. Scaling: same code in a VW container, Postgres, object storage, 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5:00–6:00, then into the demo. Lead with time and negotiation, not TAT. The 1% line: say 'if', and that a pilot would measure it. Control: InfoSec screening is enforced before a request can reach Procurement, a PO number can't be reused on two cases, and the activity trail records every step. Then: 'Let me show you.'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E6EC35-AB24-5D96-BA7D-42EF3921F02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5318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1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1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6100" y="533400"/>
            <a:ext cx="79375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2F7F6"/>
                </a:solidFill>
                <a:latin typeface="Arial"/>
              </a:rPr>
              <a:t>1 · Small purchases, big effort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100" y="1104900"/>
            <a:ext cx="1828800" cy="50800"/>
          </a:xfrm>
          <a:prstGeom prst="rect">
            <a:avLst/>
          </a:prstGeom>
          <a:solidFill>
            <a:srgbClr val="B5E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6100" y="124460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BFD8D5"/>
                </a:solidFill>
                <a:latin typeface="Arial"/>
              </a:rPr>
              <a:t>Sub-€50k buying runs on email and Excel. The figures are VW GDS General Procurement's own.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6100" y="1752600"/>
            <a:ext cx="2641600" cy="14986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3900" y="1930400"/>
            <a:ext cx="2286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B5E61D"/>
                </a:solidFill>
                <a:latin typeface="Arial"/>
              </a:rPr>
              <a:t>600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2590800"/>
            <a:ext cx="2286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2F7F6"/>
                </a:solidFill>
                <a:latin typeface="Arial"/>
              </a:rPr>
              <a:t>cases a year under €50k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5500" y="1752600"/>
            <a:ext cx="2641600" cy="14986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43300" y="1930400"/>
            <a:ext cx="2286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B5E61D"/>
                </a:solidFill>
                <a:latin typeface="Arial"/>
              </a:rPr>
              <a:t>600–900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3300" y="2590800"/>
            <a:ext cx="2286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2F7F6"/>
                </a:solidFill>
                <a:latin typeface="Arial"/>
              </a:rPr>
              <a:t>buyer hours a year, at 60–90 min per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4900" y="1752600"/>
            <a:ext cx="2641600" cy="14986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2700" y="1930400"/>
            <a:ext cx="2286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B5E61D"/>
                </a:solidFill>
                <a:latin typeface="Arial"/>
              </a:rPr>
              <a:t>₹35–45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700" y="2590800"/>
            <a:ext cx="2286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2F7F6"/>
                </a:solidFill>
                <a:latin typeface="Arial"/>
              </a:rPr>
              <a:t>crore of spend a year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4300" y="1752600"/>
            <a:ext cx="2641600" cy="14986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2100" y="1930400"/>
            <a:ext cx="2286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B5E61D"/>
                </a:solidFill>
                <a:latin typeface="Arial"/>
              </a:rPr>
              <a:t>10–15%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2100" y="2590800"/>
            <a:ext cx="2286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2F7F6"/>
                </a:solidFill>
                <a:latin typeface="Arial"/>
              </a:rPr>
              <a:t>of requests sent back to the requester (estimate)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6100" y="3479800"/>
            <a:ext cx="3581400" cy="12700"/>
          </a:xfrm>
          <a:prstGeom prst="rect">
            <a:avLst/>
          </a:prstGeom>
          <a:solidFill>
            <a:srgbClr val="2EC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6100" y="3594100"/>
            <a:ext cx="3581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2F7F6"/>
                </a:solidFill>
                <a:latin typeface="Arial"/>
              </a:rPr>
              <a:t>Incomplete requests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100" y="3860800"/>
            <a:ext cx="3581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BFD8D5"/>
                </a:solidFill>
                <a:latin typeface="Arial"/>
              </a:rPr>
              <a:t>Documents missing, so cases bounce back and forth by mail.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05300" y="3479800"/>
            <a:ext cx="3581400" cy="12700"/>
          </a:xfrm>
          <a:prstGeom prst="rect">
            <a:avLst/>
          </a:prstGeom>
          <a:solidFill>
            <a:srgbClr val="2EC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05300" y="3594100"/>
            <a:ext cx="3581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2F7F6"/>
                </a:solidFill>
                <a:latin typeface="Arial"/>
              </a:rPr>
              <a:t>Quotes in every format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5300" y="3860800"/>
            <a:ext cx="3581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BFD8D5"/>
                </a:solidFill>
                <a:latin typeface="Arial"/>
              </a:rPr>
              <a:t>PDF, Word, Excel, mail — rebuilt by hand into one comparison.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4500" y="3479800"/>
            <a:ext cx="3581400" cy="12700"/>
          </a:xfrm>
          <a:prstGeom prst="rect">
            <a:avLst/>
          </a:prstGeom>
          <a:solidFill>
            <a:srgbClr val="2EC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64500" y="3594100"/>
            <a:ext cx="3581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2F7F6"/>
                </a:solidFill>
                <a:latin typeface="Arial"/>
              </a:rPr>
              <a:t>No shared 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4500" y="3860800"/>
            <a:ext cx="3581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BFD8D5"/>
                </a:solidFill>
                <a:latin typeface="Arial"/>
              </a:rPr>
              <a:t>Status means asking someone; no common record of why a supplier won.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6100" y="4597400"/>
            <a:ext cx="11099800" cy="457200"/>
          </a:xfrm>
          <a:prstGeom prst="rect">
            <a:avLst/>
          </a:prstGeom>
          <a:solidFill>
            <a:srgbClr val="B5E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3900" y="4597400"/>
            <a:ext cx="10795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F3433"/>
                </a:solidFill>
                <a:latin typeface="Arial"/>
              </a:rPr>
              <a:t>TAT is already met in 97–98% of cases</a:t>
            </a:r>
            <a:r>
              <a:rPr sz="1400" b="0" i="0">
                <a:solidFill>
                  <a:srgbClr val="0F3433"/>
                </a:solidFill>
                <a:latin typeface="Arial"/>
              </a:rPr>
              <a:t> — so Samagra targets buyer effort, negotiation and visibility, not TAT.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100" y="6350000"/>
            <a:ext cx="10795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Source: Himanshu Tiwari, VW GDS General Procurement, 13.10.2026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1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6100" y="533400"/>
            <a:ext cx="79375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2F7F6"/>
                </a:solidFill>
                <a:latin typeface="Arial"/>
              </a:rPr>
              <a:t>2 · One portal, four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100" y="1104900"/>
            <a:ext cx="1828800" cy="50800"/>
          </a:xfrm>
          <a:prstGeom prst="rect">
            <a:avLst/>
          </a:prstGeom>
          <a:solidFill>
            <a:srgbClr val="B5E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6100" y="124460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BFD8D5"/>
                </a:solidFill>
                <a:latin typeface="Arial"/>
              </a:rPr>
              <a:t>Each role gets its own view of the same case, from request to PO.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6100" y="1752600"/>
            <a:ext cx="2641600" cy="27305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3900" y="1930400"/>
            <a:ext cx="254000" cy="50800"/>
          </a:xfrm>
          <a:prstGeom prst="rect">
            <a:avLst/>
          </a:prstGeom>
          <a:solidFill>
            <a:srgbClr val="B5E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3900" y="2082800"/>
            <a:ext cx="2286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2F7F6"/>
                </a:solidFill>
                <a:latin typeface="Arial"/>
              </a:rPr>
              <a:t>Requester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2489200"/>
            <a:ext cx="2286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BFD8D5"/>
                </a:solidFill>
                <a:latin typeface="Arial"/>
              </a:rPr>
              <a:t>•  Guided form with InfoSec screening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BFD8D5"/>
                </a:solidFill>
                <a:latin typeface="Arial"/>
              </a:rPr>
              <a:t>•  Can't submit an incomplete request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BFD8D5"/>
                </a:solidFill>
                <a:latin typeface="Arial"/>
              </a:rPr>
              <a:t>•  Runs the supplier enquiry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BFD8D5"/>
                </a:solidFill>
                <a:latin typeface="Arial"/>
              </a:rPr>
              <a:t>•  Sees status live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5500" y="1752600"/>
            <a:ext cx="2641600" cy="27305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43300" y="1930400"/>
            <a:ext cx="254000" cy="50800"/>
          </a:xfrm>
          <a:prstGeom prst="rect">
            <a:avLst/>
          </a:prstGeom>
          <a:solidFill>
            <a:srgbClr val="B5E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3300" y="2082800"/>
            <a:ext cx="2286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2F7F6"/>
                </a:solidFill>
                <a:latin typeface="Arial"/>
              </a:rPr>
              <a:t>GP buyer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3300" y="2489200"/>
            <a:ext cx="2286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BFD8D5"/>
                </a:solidFill>
                <a:latin typeface="Arial"/>
              </a:rPr>
              <a:t>•  Assigned by commodity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BFD8D5"/>
                </a:solidFill>
                <a:latin typeface="Arial"/>
              </a:rPr>
              <a:t>•  Quotes read and compared on one basis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BFD8D5"/>
                </a:solidFill>
                <a:latin typeface="Arial"/>
              </a:rPr>
              <a:t>•  Market price to negotiate with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BFD8D5"/>
                </a:solidFill>
                <a:latin typeface="Arial"/>
              </a:rPr>
              <a:t>•  Next action worked 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4900" y="1752600"/>
            <a:ext cx="2641600" cy="27305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62700" y="1930400"/>
            <a:ext cx="254000" cy="50800"/>
          </a:xfrm>
          <a:prstGeom prst="rect">
            <a:avLst/>
          </a:prstGeom>
          <a:solidFill>
            <a:srgbClr val="B5E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62700" y="2082800"/>
            <a:ext cx="2286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2F7F6"/>
                </a:solidFill>
                <a:latin typeface="Arial"/>
              </a:rPr>
              <a:t>Procurement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2700" y="2489200"/>
            <a:ext cx="2286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BFD8D5"/>
                </a:solidFill>
                <a:latin typeface="Arial"/>
              </a:rPr>
              <a:t>•  TAT counted from complete documents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BFD8D5"/>
                </a:solidFill>
                <a:latin typeface="Arial"/>
              </a:rPr>
              <a:t>•  Workload by buyer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BFD8D5"/>
                </a:solidFill>
                <a:latin typeface="Arial"/>
              </a:rPr>
              <a:t>•  Single sourcing visible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BFD8D5"/>
                </a:solidFill>
                <a:latin typeface="Arial"/>
              </a:rPr>
              <a:t>•  Excel export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4300" y="1752600"/>
            <a:ext cx="2641600" cy="27305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2100" y="1930400"/>
            <a:ext cx="254000" cy="50800"/>
          </a:xfrm>
          <a:prstGeom prst="rect">
            <a:avLst/>
          </a:prstGeom>
          <a:solidFill>
            <a:srgbClr val="B5E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2100" y="2082800"/>
            <a:ext cx="2286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2F7F6"/>
                </a:solidFill>
                <a:latin typeface="Arial"/>
              </a:rPr>
              <a:t>Supplier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2100" y="2489200"/>
            <a:ext cx="2286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BFD8D5"/>
                </a:solidFill>
                <a:latin typeface="Arial"/>
              </a:rPr>
              <a:t>•  No account needed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BFD8D5"/>
                </a:solidFill>
                <a:latin typeface="Arial"/>
              </a:rPr>
              <a:t>•  Private link, works on a phone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BFD8D5"/>
                </a:solidFill>
                <a:latin typeface="Arial"/>
              </a:rPr>
              <a:t>•  Quote, revise or decline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BFD8D5"/>
                </a:solidFill>
                <a:latin typeface="Arial"/>
              </a:rPr>
              <a:t>•  Every change of mind kept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6100" y="4775200"/>
            <a:ext cx="2565400" cy="5080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3100" y="4775200"/>
            <a:ext cx="23495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2F7F6"/>
                </a:solidFill>
                <a:latin typeface="Arial"/>
              </a:rPr>
              <a:t>Requester collects quotes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11500" y="5029200"/>
            <a:ext cx="279400" cy="0"/>
          </a:xfrm>
          <a:prstGeom prst="line">
            <a:avLst/>
          </a:prstGeom>
          <a:ln w="28575">
            <a:solidFill>
              <a:srgbClr val="B5E6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390900" y="4775200"/>
            <a:ext cx="2565400" cy="5080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17900" y="4775200"/>
            <a:ext cx="23495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2F7F6"/>
                </a:solidFill>
                <a:latin typeface="Arial"/>
              </a:rPr>
              <a:t>Complete request reaches GP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56300" y="5029200"/>
            <a:ext cx="279400" cy="0"/>
          </a:xfrm>
          <a:prstGeom prst="line">
            <a:avLst/>
          </a:prstGeom>
          <a:ln w="28575">
            <a:solidFill>
              <a:srgbClr val="B5E6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235700" y="4775200"/>
            <a:ext cx="2565400" cy="5080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62700" y="4775200"/>
            <a:ext cx="23495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2F7F6"/>
                </a:solidFill>
                <a:latin typeface="Arial"/>
              </a:rPr>
              <a:t>Buyer compares, negotiates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01100" y="5029200"/>
            <a:ext cx="279400" cy="0"/>
          </a:xfrm>
          <a:prstGeom prst="line">
            <a:avLst/>
          </a:prstGeom>
          <a:ln w="28575">
            <a:solidFill>
              <a:srgbClr val="B5E6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080500" y="4775200"/>
            <a:ext cx="2565400" cy="508000"/>
          </a:xfrm>
          <a:prstGeom prst="rect">
            <a:avLst/>
          </a:prstGeom>
          <a:solidFill>
            <a:srgbClr val="B5E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07500" y="4775200"/>
            <a:ext cx="23495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0F3433"/>
                </a:solidFill>
                <a:latin typeface="Arial"/>
              </a:rPr>
              <a:t>PO released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100" y="6350000"/>
            <a:ext cx="10795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Under €50k the requester runs the supplier enquiry; GP takes over once the request arrives complete.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1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6100" y="533400"/>
            <a:ext cx="79375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2F7F6"/>
                </a:solidFill>
                <a:latin typeface="Arial"/>
              </a:rPr>
              <a:t>3 · Solution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100" y="1104900"/>
            <a:ext cx="1828800" cy="50800"/>
          </a:xfrm>
          <a:prstGeom prst="rect">
            <a:avLst/>
          </a:prstGeom>
          <a:solidFill>
            <a:srgbClr val="B5E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6100" y="124460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BFD8D5"/>
                </a:solidFill>
                <a:latin typeface="Arial"/>
              </a:rPr>
              <a:t>A layered monolith: one Python service, rules at the core, AI agents that read, three external APIs.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905000"/>
            <a:ext cx="1841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FD9CC"/>
                </a:solidFill>
                <a:latin typeface="Consolas"/>
              </a:rPr>
              <a:t>USERS &amp;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2159000"/>
            <a:ext cx="1841500" cy="5588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2159000"/>
            <a:ext cx="1663700" cy="55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2F7F6"/>
                </a:solidFill>
                <a:latin typeface="Arial"/>
              </a:rPr>
              <a:t>Requester</a:t>
            </a:r>
          </a:p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request, enquiry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87600" y="2438400"/>
            <a:ext cx="444500" cy="0"/>
          </a:xfrm>
          <a:prstGeom prst="line">
            <a:avLst/>
          </a:prstGeom>
          <a:ln w="28575">
            <a:solidFill>
              <a:srgbClr val="2EC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6100" y="2794000"/>
            <a:ext cx="1841500" cy="5588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700" y="2794000"/>
            <a:ext cx="1663700" cy="55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2F7F6"/>
                </a:solidFill>
                <a:latin typeface="Arial"/>
              </a:rPr>
              <a:t>GP buyer</a:t>
            </a:r>
          </a:p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check, compare, PO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87600" y="3073400"/>
            <a:ext cx="444500" cy="0"/>
          </a:xfrm>
          <a:prstGeom prst="line">
            <a:avLst/>
          </a:prstGeom>
          <a:ln w="28575">
            <a:solidFill>
              <a:srgbClr val="2EC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46100" y="3429000"/>
            <a:ext cx="1841500" cy="5588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700" y="3429000"/>
            <a:ext cx="1663700" cy="55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2F7F6"/>
                </a:solidFill>
                <a:latin typeface="Arial"/>
              </a:rPr>
              <a:t>GP head</a:t>
            </a:r>
          </a:p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dashboards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87600" y="3708400"/>
            <a:ext cx="444500" cy="0"/>
          </a:xfrm>
          <a:prstGeom prst="line">
            <a:avLst/>
          </a:prstGeom>
          <a:ln w="28575">
            <a:solidFill>
              <a:srgbClr val="2EC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46100" y="4064000"/>
            <a:ext cx="1841500" cy="5588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700" y="4064000"/>
            <a:ext cx="1663700" cy="55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2F7F6"/>
                </a:solidFill>
                <a:latin typeface="Arial"/>
              </a:rPr>
              <a:t>Supplier</a:t>
            </a:r>
          </a:p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token link, tunnel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87600" y="4343400"/>
            <a:ext cx="444500" cy="0"/>
          </a:xfrm>
          <a:prstGeom prst="line">
            <a:avLst/>
          </a:prstGeom>
          <a:ln w="28575">
            <a:solidFill>
              <a:srgbClr val="2EC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46100" y="4699000"/>
            <a:ext cx="1841500" cy="5588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700" y="4699000"/>
            <a:ext cx="1663700" cy="55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2F7F6"/>
                </a:solidFill>
                <a:latin typeface="Arial"/>
              </a:rPr>
              <a:t>GP mailbox</a:t>
            </a:r>
          </a:p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mailed requests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87600" y="4978400"/>
            <a:ext cx="444500" cy="0"/>
          </a:xfrm>
          <a:prstGeom prst="line">
            <a:avLst/>
          </a:prstGeom>
          <a:ln w="28575">
            <a:solidFill>
              <a:srgbClr val="2EC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832100" y="1587500"/>
            <a:ext cx="5524500" cy="4216400"/>
          </a:xfrm>
          <a:prstGeom prst="rect">
            <a:avLst/>
          </a:prstGeom>
          <a:solidFill>
            <a:srgbClr val="0B3B3A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59100" y="1663700"/>
            <a:ext cx="52705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2F7F6"/>
                </a:solidFill>
                <a:latin typeface="Arial"/>
              </a:rPr>
              <a:t>Samagra · FastAPI on Uvicorn · one Python 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59100" y="1943100"/>
            <a:ext cx="5270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FD9CC"/>
                </a:solidFill>
                <a:latin typeface="Consolas"/>
              </a:rPr>
              <a:t>WEB LAYER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59100" y="2159000"/>
            <a:ext cx="1689100" cy="5080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60700" y="2159000"/>
            <a:ext cx="15113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2F7F6"/>
                </a:solidFill>
                <a:latin typeface="Arial"/>
              </a:rPr>
              <a:t>Auth &amp; roles</a:t>
            </a:r>
          </a:p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signed session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49800" y="2159000"/>
            <a:ext cx="1689100" cy="5080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51400" y="2159000"/>
            <a:ext cx="15113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2F7F6"/>
                </a:solidFill>
                <a:latin typeface="Arial"/>
              </a:rPr>
              <a:t>~60 routes</a:t>
            </a:r>
          </a:p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FastAPI routers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40500" y="2159000"/>
            <a:ext cx="1689100" cy="5080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42100" y="2159000"/>
            <a:ext cx="15113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2F7F6"/>
                </a:solidFill>
                <a:latin typeface="Arial"/>
              </a:rPr>
              <a:t>Pages</a:t>
            </a:r>
          </a:p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Jinja2, no SPA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59100" y="2730500"/>
            <a:ext cx="5270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FD9CC"/>
                </a:solidFill>
                <a:latin typeface="Consolas"/>
              </a:rPr>
              <a:t>DOMAIN SERVICES · RULES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59100" y="2946400"/>
            <a:ext cx="1689100" cy="5080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60700" y="2946400"/>
            <a:ext cx="15113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2F7F6"/>
                </a:solidFill>
                <a:latin typeface="Arial"/>
              </a:rPr>
              <a:t>Intake parser</a:t>
            </a:r>
          </a:p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carts, quotes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49800" y="2946400"/>
            <a:ext cx="1689100" cy="5080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51400" y="2946400"/>
            <a:ext cx="15113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2F7F6"/>
                </a:solidFill>
                <a:latin typeface="Arial"/>
              </a:rPr>
              <a:t>Comparison</a:t>
            </a:r>
          </a:p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tax-stripped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40500" y="2946400"/>
            <a:ext cx="1689100" cy="5080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42100" y="2946400"/>
            <a:ext cx="15113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2F7F6"/>
                </a:solidFill>
                <a:latin typeface="Arial"/>
              </a:rPr>
              <a:t>Market check</a:t>
            </a:r>
          </a:p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trusted sellers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59100" y="3530600"/>
            <a:ext cx="1689100" cy="5080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060700" y="3530600"/>
            <a:ext cx="15113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2F7F6"/>
                </a:solidFill>
                <a:latin typeface="Arial"/>
              </a:rPr>
              <a:t>TAT &amp; advisor</a:t>
            </a:r>
          </a:p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working days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49800" y="3530600"/>
            <a:ext cx="1689100" cy="5080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51400" y="3530600"/>
            <a:ext cx="15113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2F7F6"/>
                </a:solidFill>
                <a:latin typeface="Arial"/>
              </a:rPr>
              <a:t>Supplier RFQ</a:t>
            </a:r>
          </a:p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rounds, versions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40500" y="3530600"/>
            <a:ext cx="1689100" cy="5080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42100" y="3530600"/>
            <a:ext cx="15113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2F7F6"/>
                </a:solidFill>
                <a:latin typeface="Arial"/>
              </a:rPr>
              <a:t>Notifications</a:t>
            </a:r>
          </a:p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mail + in-app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59100" y="4102100"/>
            <a:ext cx="5270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B5E61D"/>
                </a:solidFill>
                <a:latin typeface="Consolas"/>
              </a:rPr>
              <a:t>AI AGENTS · READ, NEVER DECIDE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59100" y="4318000"/>
            <a:ext cx="1689100" cy="508000"/>
          </a:xfrm>
          <a:prstGeom prst="rect">
            <a:avLst/>
          </a:prstGeom>
          <a:solidFill>
            <a:srgbClr val="145B58"/>
          </a:solidFill>
          <a:ln w="19050">
            <a:solidFill>
              <a:srgbClr val="B5E61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060700" y="4318000"/>
            <a:ext cx="15113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2F7F6"/>
                </a:solidFill>
                <a:latin typeface="Arial"/>
              </a:rPr>
              <a:t>Offer agent</a:t>
            </a:r>
          </a:p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read, verify, rank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49800" y="4318000"/>
            <a:ext cx="1689100" cy="508000"/>
          </a:xfrm>
          <a:prstGeom prst="rect">
            <a:avLst/>
          </a:prstGeom>
          <a:solidFill>
            <a:srgbClr val="145B58"/>
          </a:solidFill>
          <a:ln w="19050">
            <a:solidFill>
              <a:srgbClr val="B5E61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851400" y="4318000"/>
            <a:ext cx="15113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2F7F6"/>
                </a:solidFill>
                <a:latin typeface="Arial"/>
              </a:rPr>
              <a:t>Enquiry agent</a:t>
            </a:r>
          </a:p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drafts only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40500" y="4318000"/>
            <a:ext cx="1689100" cy="508000"/>
          </a:xfrm>
          <a:prstGeom prst="rect">
            <a:avLst/>
          </a:prstGeom>
          <a:solidFill>
            <a:srgbClr val="145B58"/>
          </a:solidFill>
          <a:ln w="19050">
            <a:solidFill>
              <a:srgbClr val="B5E61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42100" y="4318000"/>
            <a:ext cx="15113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2F7F6"/>
                </a:solidFill>
                <a:latin typeface="Arial"/>
              </a:rPr>
              <a:t>Ask this case</a:t>
            </a:r>
          </a:p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case docs only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59100" y="4889500"/>
            <a:ext cx="5270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FD9CC"/>
                </a:solidFill>
                <a:latin typeface="Consolas"/>
              </a:rPr>
              <a:t>DATA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59100" y="5105400"/>
            <a:ext cx="2584450" cy="584200"/>
          </a:xfrm>
          <a:prstGeom prst="rect">
            <a:avLst/>
          </a:prstGeom>
          <a:solidFill>
            <a:srgbClr val="082F2E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060700" y="5205139"/>
            <a:ext cx="240665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dirty="0">
                <a:solidFill>
                  <a:srgbClr val="F2F7F6"/>
                </a:solidFill>
                <a:latin typeface="Arial"/>
              </a:rPr>
              <a:t>SQLite</a:t>
            </a:r>
          </a:p>
          <a:p>
            <a:pPr algn="l"/>
            <a:r>
              <a:rPr sz="1200" b="0" i="0" dirty="0">
                <a:solidFill>
                  <a:srgbClr val="BFD8D5"/>
                </a:solidFill>
                <a:latin typeface="Arial"/>
              </a:rPr>
              <a:t>1</a:t>
            </a:r>
            <a:r>
              <a:rPr lang="en-US" sz="1200" b="0" i="0" dirty="0">
                <a:solidFill>
                  <a:srgbClr val="BFD8D5"/>
                </a:solidFill>
                <a:latin typeface="Arial"/>
              </a:rPr>
              <a:t>6</a:t>
            </a:r>
            <a:r>
              <a:rPr sz="1200" b="0" i="0" dirty="0">
                <a:solidFill>
                  <a:srgbClr val="BFD8D5"/>
                </a:solidFill>
                <a:latin typeface="Arial"/>
              </a:rPr>
              <a:t> tables, audit trail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45150" y="5105400"/>
            <a:ext cx="2584450" cy="584200"/>
          </a:xfrm>
          <a:prstGeom prst="rect">
            <a:avLst/>
          </a:prstGeom>
          <a:solidFill>
            <a:srgbClr val="082F2E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746750" y="5105400"/>
            <a:ext cx="240665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dirty="0">
                <a:solidFill>
                  <a:srgbClr val="F2F7F6"/>
                </a:solidFill>
                <a:latin typeface="Arial"/>
              </a:rPr>
              <a:t>File store</a:t>
            </a:r>
          </a:p>
          <a:p>
            <a:pPr algn="l"/>
            <a:r>
              <a:rPr sz="1200" b="0" i="0" dirty="0">
                <a:solidFill>
                  <a:srgbClr val="BFD8D5"/>
                </a:solidFill>
                <a:latin typeface="Arial"/>
              </a:rPr>
              <a:t>per case and round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64600" y="1587500"/>
            <a:ext cx="2781300" cy="1016000"/>
          </a:xfrm>
          <a:prstGeom prst="rect">
            <a:avLst/>
          </a:prstGeom>
          <a:solidFill>
            <a:srgbClr val="0B3B3A"/>
          </a:solidFill>
          <a:ln w="19050">
            <a:solidFill>
              <a:srgbClr val="8FD9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966200" y="1587500"/>
            <a:ext cx="2603500" cy="10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2F7F6"/>
                </a:solidFill>
                <a:latin typeface="Arial"/>
              </a:rPr>
              <a:t>Deployment</a:t>
            </a:r>
          </a:p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Today: one process, laptop</a:t>
            </a:r>
          </a:p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Next: VW cloud container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4600" y="2730500"/>
            <a:ext cx="27813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FD9CC"/>
                </a:solidFill>
                <a:latin typeface="Consolas"/>
              </a:rPr>
              <a:t>EXTERNAL APIS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64600" y="2946400"/>
            <a:ext cx="2781300" cy="508000"/>
          </a:xfrm>
          <a:prstGeom prst="rect">
            <a:avLst/>
          </a:prstGeom>
          <a:solidFill>
            <a:srgbClr val="145B58"/>
          </a:solidFill>
          <a:ln w="19050">
            <a:solidFill>
              <a:srgbClr val="8F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66200" y="2946400"/>
            <a:ext cx="26035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dirty="0" err="1">
                <a:solidFill>
                  <a:srgbClr val="F2F7F6"/>
                </a:solidFill>
                <a:latin typeface="Arial"/>
              </a:rPr>
              <a:t>SerpAPI</a:t>
            </a:r>
            <a:endParaRPr sz="1300" b="1" i="0" dirty="0">
              <a:solidFill>
                <a:srgbClr val="F2F7F6"/>
              </a:solidFill>
              <a:latin typeface="Arial"/>
            </a:endParaRPr>
          </a:p>
          <a:p>
            <a:pPr algn="l"/>
            <a:r>
              <a:rPr sz="1200" b="0" i="0" dirty="0">
                <a:solidFill>
                  <a:srgbClr val="BFD8D5"/>
                </a:solidFill>
                <a:latin typeface="Arial"/>
              </a:rPr>
              <a:t>Google Shopping, Amazon.in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64600" y="3530600"/>
            <a:ext cx="2781300" cy="508000"/>
          </a:xfrm>
          <a:prstGeom prst="rect">
            <a:avLst/>
          </a:prstGeom>
          <a:solidFill>
            <a:srgbClr val="145B58"/>
          </a:solidFill>
          <a:ln w="19050">
            <a:solidFill>
              <a:srgbClr val="8F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966200" y="3530600"/>
            <a:ext cx="26035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2F7F6"/>
                </a:solidFill>
                <a:latin typeface="Arial"/>
              </a:rPr>
              <a:t>Microsoft Graph</a:t>
            </a:r>
          </a:p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send mail, read inbox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64600" y="4114800"/>
            <a:ext cx="2781300" cy="711200"/>
          </a:xfrm>
          <a:prstGeom prst="rect">
            <a:avLst/>
          </a:prstGeom>
          <a:solidFill>
            <a:srgbClr val="145B58"/>
          </a:solidFill>
          <a:ln w="19050">
            <a:solidFill>
              <a:srgbClr val="B5E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66200" y="4114800"/>
            <a:ext cx="2603500" cy="711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dirty="0">
                <a:solidFill>
                  <a:srgbClr val="F2F7F6"/>
                </a:solidFill>
                <a:latin typeface="Arial"/>
              </a:rPr>
              <a:t>LLM</a:t>
            </a:r>
          </a:p>
          <a:p>
            <a:pPr algn="l"/>
            <a:r>
              <a:rPr sz="1200" b="0" i="0" dirty="0">
                <a:solidFill>
                  <a:srgbClr val="BFD8D5"/>
                </a:solidFill>
                <a:latin typeface="Arial"/>
              </a:rPr>
              <a:t>VW LLMaaS gpt-4o</a:t>
            </a:r>
          </a:p>
          <a:p>
            <a:pPr algn="l"/>
            <a:r>
              <a:rPr sz="1200" b="0" i="0" dirty="0">
                <a:solidFill>
                  <a:srgbClr val="BFD8D5"/>
                </a:solidFill>
                <a:latin typeface="Arial"/>
              </a:rPr>
              <a:t>fallback: </a:t>
            </a:r>
            <a:r>
              <a:rPr sz="1200" b="0" i="0" dirty="0" err="1">
                <a:solidFill>
                  <a:srgbClr val="BFD8D5"/>
                </a:solidFill>
                <a:latin typeface="Arial"/>
              </a:rPr>
              <a:t>Ollama</a:t>
            </a:r>
            <a:r>
              <a:rPr sz="1200" b="0" i="0" dirty="0">
                <a:solidFill>
                  <a:srgbClr val="BFD8D5"/>
                </a:solidFill>
                <a:latin typeface="Arial"/>
              </a:rPr>
              <a:t> qwen7b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64600" y="5105400"/>
            <a:ext cx="2781300" cy="584200"/>
          </a:xfrm>
          <a:prstGeom prst="rect">
            <a:avLst/>
          </a:prstGeom>
          <a:solidFill>
            <a:srgbClr val="0B3B3A"/>
          </a:solidFill>
          <a:ln w="19050">
            <a:solidFill>
              <a:srgbClr val="8FD9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940800" y="5252219"/>
            <a:ext cx="260350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300" b="1" dirty="0">
                <a:solidFill>
                  <a:srgbClr val="BFD8D5"/>
                </a:solidFill>
                <a:latin typeface="Arial"/>
              </a:rPr>
              <a:t>KSRM </a:t>
            </a:r>
            <a:r>
              <a:rPr sz="1300" b="1" i="0" dirty="0">
                <a:solidFill>
                  <a:srgbClr val="BFD8D5"/>
                </a:solidFill>
                <a:latin typeface="Arial"/>
              </a:rPr>
              <a:t>proposed</a:t>
            </a:r>
          </a:p>
          <a:p>
            <a:pPr algn="l"/>
            <a:r>
              <a:rPr lang="en-US" sz="1200" dirty="0">
                <a:solidFill>
                  <a:srgbClr val="BFD8D5"/>
                </a:solidFill>
                <a:latin typeface="Arial"/>
              </a:rPr>
              <a:t>For SC</a:t>
            </a:r>
            <a:endParaRPr sz="1200" b="0" i="0" dirty="0">
              <a:solidFill>
                <a:srgbClr val="BFD8D5"/>
              </a:solidFill>
              <a:latin typeface="Arial"/>
            </a:endParaRPr>
          </a:p>
        </p:txBody>
      </p:sp>
      <p:cxnSp>
        <p:nvCxnSpPr>
          <p:cNvPr id="67" name="Connector 66"/>
          <p:cNvCxnSpPr/>
          <p:nvPr/>
        </p:nvCxnSpPr>
        <p:spPr>
          <a:xfrm>
            <a:off x="8229600" y="3200400"/>
            <a:ext cx="635000" cy="0"/>
          </a:xfrm>
          <a:prstGeom prst="line">
            <a:avLst/>
          </a:prstGeom>
          <a:ln w="28575">
            <a:solidFill>
              <a:srgbClr val="8FD9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229600" y="3784600"/>
            <a:ext cx="635000" cy="0"/>
          </a:xfrm>
          <a:prstGeom prst="line">
            <a:avLst/>
          </a:prstGeom>
          <a:ln w="28575">
            <a:solidFill>
              <a:srgbClr val="8FD9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229600" y="4572000"/>
            <a:ext cx="635000" cy="0"/>
          </a:xfrm>
          <a:prstGeom prst="line">
            <a:avLst/>
          </a:prstGeom>
          <a:ln w="28575">
            <a:solidFill>
              <a:srgbClr val="B5E6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356600" y="5397500"/>
            <a:ext cx="508000" cy="0"/>
          </a:xfrm>
          <a:prstGeom prst="line">
            <a:avLst/>
          </a:prstGeom>
          <a:ln w="28575">
            <a:solidFill>
              <a:srgbClr val="8FD9C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546100" y="5969000"/>
            <a:ext cx="11099800" cy="482600"/>
          </a:xfrm>
          <a:prstGeom prst="rect">
            <a:avLst/>
          </a:prstGeom>
          <a:solidFill>
            <a:srgbClr val="B5E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23900" y="5969000"/>
            <a:ext cx="6350000" cy="482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0F3433"/>
                </a:solidFill>
                <a:latin typeface="Arial"/>
              </a:rPr>
              <a:t>AI reads  ›  rules decide  ›  a person approves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85000" y="5969000"/>
            <a:ext cx="4483100" cy="482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0F3433"/>
                </a:solidFill>
                <a:latin typeface="Arial"/>
              </a:rPr>
              <a:t>Solid = built · dashed = proposed · lime =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1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6100" y="533400"/>
            <a:ext cx="79375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2F7F6"/>
                </a:solidFill>
                <a:latin typeface="Arial"/>
              </a:rPr>
              <a:t>4 · Business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100" y="1104900"/>
            <a:ext cx="1828800" cy="50800"/>
          </a:xfrm>
          <a:prstGeom prst="rect">
            <a:avLst/>
          </a:prstGeom>
          <a:solidFill>
            <a:srgbClr val="B5E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6100" y="124460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BFD8D5"/>
                </a:solidFill>
                <a:latin typeface="Arial"/>
              </a:rPr>
              <a:t>Time, money and control, on GP's own baseline.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6100" y="1752600"/>
            <a:ext cx="3581400" cy="24130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300" y="1955800"/>
            <a:ext cx="304800" cy="50800"/>
          </a:xfrm>
          <a:prstGeom prst="rect">
            <a:avLst/>
          </a:prstGeom>
          <a:solidFill>
            <a:srgbClr val="B5E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300" y="21336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2F7F6"/>
                </a:solidFill>
                <a:latin typeface="Arial"/>
              </a:rPr>
              <a:t>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300" y="2565400"/>
            <a:ext cx="31750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BFD8D5"/>
                </a:solidFill>
                <a:latin typeface="Arial"/>
              </a:rPr>
              <a:t>600–900 buyer hours a year go into checking and comparing. Samagra reads, ranks and chases, so buyers can negotiate.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5300" y="1752600"/>
            <a:ext cx="3581400" cy="24130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08500" y="1955800"/>
            <a:ext cx="304800" cy="50800"/>
          </a:xfrm>
          <a:prstGeom prst="rect">
            <a:avLst/>
          </a:prstGeom>
          <a:solidFill>
            <a:srgbClr val="B5E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8500" y="21336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2F7F6"/>
                </a:solidFill>
                <a:latin typeface="Arial"/>
              </a:rPr>
              <a:t>Money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500" y="2565400"/>
            <a:ext cx="31750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BFD8D5"/>
                </a:solidFill>
                <a:latin typeface="Arial"/>
              </a:rPr>
              <a:t>The market price check gives buyers a reference price. If prices improve 1% on ₹35–45 crore, that is ₹35–45 lakh a year.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4500" y="1752600"/>
            <a:ext cx="3581400" cy="2413000"/>
          </a:xfrm>
          <a:prstGeom prst="rect">
            <a:avLst/>
          </a:prstGeom>
          <a:solidFill>
            <a:srgbClr val="145B58"/>
          </a:solidFill>
          <a:ln w="19050">
            <a:solidFill>
              <a:srgbClr val="2E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67700" y="1955800"/>
            <a:ext cx="304800" cy="50800"/>
          </a:xfrm>
          <a:prstGeom prst="rect">
            <a:avLst/>
          </a:prstGeom>
          <a:solidFill>
            <a:srgbClr val="B5E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7700" y="21336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2F7F6"/>
                </a:solidFill>
                <a:latin typeface="Arial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7700" y="2565400"/>
            <a:ext cx="31750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BFD8D5"/>
                </a:solidFill>
                <a:latin typeface="Arial"/>
              </a:rPr>
              <a:t>InfoSec clearance before GP, duplicate POs blocked, and every decision in the audit trail.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6100" y="4445000"/>
            <a:ext cx="38100" cy="381000"/>
          </a:xfrm>
          <a:prstGeom prst="rect">
            <a:avLst/>
          </a:prstGeom>
          <a:solidFill>
            <a:srgbClr val="B5E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3900" y="4445000"/>
            <a:ext cx="10795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2F7F6"/>
                </a:solidFill>
                <a:latin typeface="Arial"/>
              </a:rPr>
              <a:t>The 1% is a scenario, not a promise — a pilot would measure the real figure.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100" y="6350000"/>
            <a:ext cx="107950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BFD8D5"/>
                </a:solidFill>
                <a:latin typeface="Arial"/>
              </a:rPr>
              <a:t>Baseline: Himanshu Tiwari, VW GDS General Procurement · Next: the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1c9b508-7c6e-42bd-bedf-808292653d6c}" enabled="1" method="Standard" siteId="{2882be50-2012-4d88-ac86-544124e120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1035</Words>
  <Application>Microsoft Office PowerPoint</Application>
  <PresentationFormat>Widescreen</PresentationFormat>
  <Paragraphs>121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Adsare, Vedanti (Digital Solutions IN I-DI-D)</cp:lastModifiedBy>
  <cp:revision>1</cp:revision>
  <dcterms:created xsi:type="dcterms:W3CDTF">2013-01-27T09:14:16Z</dcterms:created>
  <dcterms:modified xsi:type="dcterms:W3CDTF">2026-10-15T07:43:46Z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INTERNAL</vt:lpwstr>
  </property>
</Properties>
</file>